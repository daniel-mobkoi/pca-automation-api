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Open Sans" panose="020B0606030504020204" pitchFamily="34" charset="0"/>
      <p:regular r:id="rId22"/>
    </p:embeddedFont>
    <p:embeddedFont>
      <p:font typeface="Open Sans Semibold" panose="020B0606030504020204" pitchFamily="34" charset="0"/>
      <p:regular r:id="rId23"/>
      <p:bold r:id="rId24"/>
    </p:embeddedFont>
    <p:embeddedFont>
      <p:font typeface="Poppins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60"/>
    <p:restoredTop sz="96846"/>
  </p:normalViewPr>
  <p:slideViewPr>
    <p:cSldViewPr snapToGrid="0">
      <p:cViewPr>
        <p:scale>
          <a:sx n="90" d="100"/>
          <a:sy n="90" d="100"/>
        </p:scale>
        <p:origin x="157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A573E82-55CB-C294-1E40-B74EFF8B46C0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  <a:noFill/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spc="6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</a:rPr>
                <a:t>PCA Reporting Results</a:t>
              </a: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  <a:noFill/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ja-JP" altLang="en-US" sz="900" b="1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クリエイティブフォーマット：</a:t>
              </a:r>
            </a:p>
          </p:txBody>
        </p:sp>
        <p:sp>
          <p:nvSpPr>
            <p:cNvPr id="3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SpPr/>
            <p:nvPr/>
          </p:nvSpPr>
          <p:spPr>
            <a:xfrm>
              <a:off x="1046988" y="2774490"/>
              <a:ext cx="1757866" cy="290457"/>
            </a:xfrm>
            <a:custGeom>
              <a:avLst/>
              <a:gdLst>
                <a:gd name="csX0" fmla="*/ 60649 w 1757866"/>
                <a:gd name="csY0" fmla="*/ 118128 h 290457"/>
                <a:gd name="csX1" fmla="*/ 60649 w 1757866"/>
                <a:gd name="csY1" fmla="*/ 284729 h 290457"/>
                <a:gd name="csX2" fmla="*/ 0 w 1757866"/>
                <a:gd name="csY2" fmla="*/ 284729 h 290457"/>
                <a:gd name="csX3" fmla="*/ 0 w 1757866"/>
                <a:gd name="csY3" fmla="*/ 5697 h 290457"/>
                <a:gd name="csX4" fmla="*/ 75716 w 1757866"/>
                <a:gd name="csY4" fmla="*/ 5697 h 290457"/>
                <a:gd name="csX5" fmla="*/ 157535 w 1757866"/>
                <a:gd name="csY5" fmla="*/ 190239 h 290457"/>
                <a:gd name="csX6" fmla="*/ 239386 w 1757866"/>
                <a:gd name="csY6" fmla="*/ 5697 h 290457"/>
                <a:gd name="csX7" fmla="*/ 315102 w 1757866"/>
                <a:gd name="csY7" fmla="*/ 5697 h 290457"/>
                <a:gd name="csX8" fmla="*/ 315102 w 1757866"/>
                <a:gd name="csY8" fmla="*/ 284729 h 290457"/>
                <a:gd name="csX9" fmla="*/ 253227 w 1757866"/>
                <a:gd name="csY9" fmla="*/ 284729 h 290457"/>
                <a:gd name="csX10" fmla="*/ 253227 w 1757866"/>
                <a:gd name="csY10" fmla="*/ 117310 h 290457"/>
                <a:gd name="csX11" fmla="*/ 177511 w 1757866"/>
                <a:gd name="csY11" fmla="*/ 284729 h 290457"/>
                <a:gd name="csX12" fmla="*/ 135988 w 1757866"/>
                <a:gd name="csY12" fmla="*/ 284729 h 290457"/>
                <a:gd name="csX13" fmla="*/ 60680 w 1757866"/>
                <a:gd name="csY13" fmla="*/ 118128 h 290457"/>
                <a:gd name="csX14" fmla="*/ 391637 w 1757866"/>
                <a:gd name="csY14" fmla="*/ 145418 h 290457"/>
                <a:gd name="csX15" fmla="*/ 539421 w 1757866"/>
                <a:gd name="csY15" fmla="*/ 0 h 290457"/>
                <a:gd name="csX16" fmla="*/ 687204 w 1757866"/>
                <a:gd name="csY16" fmla="*/ 145040 h 290457"/>
                <a:gd name="csX17" fmla="*/ 539421 w 1757866"/>
                <a:gd name="csY17" fmla="*/ 290457 h 290457"/>
                <a:gd name="csX18" fmla="*/ 391637 w 1757866"/>
                <a:gd name="csY18" fmla="*/ 145418 h 290457"/>
                <a:gd name="csX19" fmla="*/ 622875 w 1757866"/>
                <a:gd name="csY19" fmla="*/ 145040 h 290457"/>
                <a:gd name="csX20" fmla="*/ 539421 w 1757866"/>
                <a:gd name="csY20" fmla="*/ 58671 h 290457"/>
                <a:gd name="csX21" fmla="*/ 455966 w 1757866"/>
                <a:gd name="csY21" fmla="*/ 145449 h 290457"/>
                <a:gd name="csX22" fmla="*/ 539421 w 1757866"/>
                <a:gd name="csY22" fmla="*/ 231818 h 290457"/>
                <a:gd name="csX23" fmla="*/ 622875 w 1757866"/>
                <a:gd name="csY23" fmla="*/ 145040 h 290457"/>
                <a:gd name="csX24" fmla="*/ 763707 w 1757866"/>
                <a:gd name="csY24" fmla="*/ 5697 h 290457"/>
                <a:gd name="csX25" fmla="*/ 878524 w 1757866"/>
                <a:gd name="csY25" fmla="*/ 5697 h 290457"/>
                <a:gd name="csX26" fmla="*/ 968491 w 1757866"/>
                <a:gd name="csY26" fmla="*/ 81459 h 290457"/>
                <a:gd name="csX27" fmla="*/ 933479 w 1757866"/>
                <a:gd name="csY27" fmla="*/ 138084 h 290457"/>
                <a:gd name="csX28" fmla="*/ 987208 w 1757866"/>
                <a:gd name="csY28" fmla="*/ 204906 h 290457"/>
                <a:gd name="csX29" fmla="*/ 889094 w 1757866"/>
                <a:gd name="csY29" fmla="*/ 284760 h 290457"/>
                <a:gd name="csX30" fmla="*/ 763707 w 1757866"/>
                <a:gd name="csY30" fmla="*/ 284760 h 290457"/>
                <a:gd name="csX31" fmla="*/ 763707 w 1757866"/>
                <a:gd name="csY31" fmla="*/ 5697 h 290457"/>
                <a:gd name="csX32" fmla="*/ 826810 w 1757866"/>
                <a:gd name="csY32" fmla="*/ 59867 h 290457"/>
                <a:gd name="csX33" fmla="*/ 826810 w 1757866"/>
                <a:gd name="csY33" fmla="*/ 116901 h 290457"/>
                <a:gd name="csX34" fmla="*/ 874026 w 1757866"/>
                <a:gd name="csY34" fmla="*/ 116901 h 290457"/>
                <a:gd name="csX35" fmla="*/ 906615 w 1757866"/>
                <a:gd name="csY35" fmla="*/ 87974 h 290457"/>
                <a:gd name="csX36" fmla="*/ 874026 w 1757866"/>
                <a:gd name="csY36" fmla="*/ 59867 h 290457"/>
                <a:gd name="csX37" fmla="*/ 826810 w 1757866"/>
                <a:gd name="csY37" fmla="*/ 59867 h 290457"/>
                <a:gd name="csX38" fmla="*/ 826810 w 1757866"/>
                <a:gd name="csY38" fmla="*/ 170283 h 290457"/>
                <a:gd name="csX39" fmla="*/ 826810 w 1757866"/>
                <a:gd name="csY39" fmla="*/ 230559 h 290457"/>
                <a:gd name="csX40" fmla="*/ 885854 w 1757866"/>
                <a:gd name="csY40" fmla="*/ 230559 h 290457"/>
                <a:gd name="csX41" fmla="*/ 924137 w 1757866"/>
                <a:gd name="csY41" fmla="*/ 201224 h 290457"/>
                <a:gd name="csX42" fmla="*/ 885445 w 1757866"/>
                <a:gd name="csY42" fmla="*/ 170252 h 290457"/>
                <a:gd name="csX43" fmla="*/ 826810 w 1757866"/>
                <a:gd name="csY43" fmla="*/ 170252 h 290457"/>
                <a:gd name="csX44" fmla="*/ 1224171 w 1757866"/>
                <a:gd name="csY44" fmla="*/ 5697 h 290457"/>
                <a:gd name="csX45" fmla="*/ 1297875 w 1757866"/>
                <a:gd name="csY45" fmla="*/ 5697 h 290457"/>
                <a:gd name="csX46" fmla="*/ 1187147 w 1757866"/>
                <a:gd name="csY46" fmla="*/ 145008 h 290457"/>
                <a:gd name="csX47" fmla="*/ 1301146 w 1757866"/>
                <a:gd name="csY47" fmla="*/ 284729 h 290457"/>
                <a:gd name="csX48" fmla="*/ 1219327 w 1757866"/>
                <a:gd name="csY48" fmla="*/ 284729 h 290457"/>
                <a:gd name="csX49" fmla="*/ 1124894 w 1757866"/>
                <a:gd name="csY49" fmla="*/ 165782 h 290457"/>
                <a:gd name="csX50" fmla="*/ 1124894 w 1757866"/>
                <a:gd name="csY50" fmla="*/ 284729 h 290457"/>
                <a:gd name="csX51" fmla="*/ 1061792 w 1757866"/>
                <a:gd name="csY51" fmla="*/ 284729 h 290457"/>
                <a:gd name="csX52" fmla="*/ 1061792 w 1757866"/>
                <a:gd name="csY52" fmla="*/ 5697 h 290457"/>
                <a:gd name="csX53" fmla="*/ 1124894 w 1757866"/>
                <a:gd name="csY53" fmla="*/ 5697 h 290457"/>
                <a:gd name="csX54" fmla="*/ 1124894 w 1757866"/>
                <a:gd name="csY54" fmla="*/ 135660 h 290457"/>
                <a:gd name="csX55" fmla="*/ 1224171 w 1757866"/>
                <a:gd name="csY55" fmla="*/ 5697 h 290457"/>
                <a:gd name="csX56" fmla="*/ 1322663 w 1757866"/>
                <a:gd name="csY56" fmla="*/ 145418 h 290457"/>
                <a:gd name="csX57" fmla="*/ 1470446 w 1757866"/>
                <a:gd name="csY57" fmla="*/ 0 h 290457"/>
                <a:gd name="csX58" fmla="*/ 1618230 w 1757866"/>
                <a:gd name="csY58" fmla="*/ 145040 h 290457"/>
                <a:gd name="csX59" fmla="*/ 1470446 w 1757866"/>
                <a:gd name="csY59" fmla="*/ 290457 h 290457"/>
                <a:gd name="csX60" fmla="*/ 1322663 w 1757866"/>
                <a:gd name="csY60" fmla="*/ 145418 h 290457"/>
                <a:gd name="csX61" fmla="*/ 1553933 w 1757866"/>
                <a:gd name="csY61" fmla="*/ 145040 h 290457"/>
                <a:gd name="csX62" fmla="*/ 1470478 w 1757866"/>
                <a:gd name="csY62" fmla="*/ 58671 h 290457"/>
                <a:gd name="csX63" fmla="*/ 1387023 w 1757866"/>
                <a:gd name="csY63" fmla="*/ 145449 h 290457"/>
                <a:gd name="csX64" fmla="*/ 1470478 w 1757866"/>
                <a:gd name="csY64" fmla="*/ 231818 h 290457"/>
                <a:gd name="csX65" fmla="*/ 1553933 w 1757866"/>
                <a:gd name="csY65" fmla="*/ 145040 h 290457"/>
                <a:gd name="csX66" fmla="*/ 1694765 w 1757866"/>
                <a:gd name="csY66" fmla="*/ 284760 h 290457"/>
                <a:gd name="csX67" fmla="*/ 1694765 w 1757866"/>
                <a:gd name="csY67" fmla="*/ 5697 h 290457"/>
                <a:gd name="csX68" fmla="*/ 1757867 w 1757866"/>
                <a:gd name="csY68" fmla="*/ 5697 h 290457"/>
                <a:gd name="csX69" fmla="*/ 1757867 w 1757866"/>
                <a:gd name="csY69" fmla="*/ 284729 h 290457"/>
                <a:gd name="csX70" fmla="*/ 1694765 w 1757866"/>
                <a:gd name="csY70" fmla="*/ 284729 h 290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</a:cxnLst>
              <a:rect l="l" t="t" r="r" b="b"/>
              <a:pathLst>
                <a:path w="1757866" h="290457">
                  <a:moveTo>
                    <a:pt x="60649" y="118128"/>
                  </a:moveTo>
                  <a:lnTo>
                    <a:pt x="60649" y="284729"/>
                  </a:lnTo>
                  <a:lnTo>
                    <a:pt x="0" y="284729"/>
                  </a:lnTo>
                  <a:lnTo>
                    <a:pt x="0" y="5697"/>
                  </a:lnTo>
                  <a:lnTo>
                    <a:pt x="75716" y="5697"/>
                  </a:lnTo>
                  <a:lnTo>
                    <a:pt x="157535" y="190239"/>
                  </a:lnTo>
                  <a:lnTo>
                    <a:pt x="239386" y="5697"/>
                  </a:lnTo>
                  <a:lnTo>
                    <a:pt x="315102" y="5697"/>
                  </a:lnTo>
                  <a:lnTo>
                    <a:pt x="315102" y="284729"/>
                  </a:lnTo>
                  <a:lnTo>
                    <a:pt x="253227" y="284729"/>
                  </a:lnTo>
                  <a:lnTo>
                    <a:pt x="253227" y="117310"/>
                  </a:lnTo>
                  <a:lnTo>
                    <a:pt x="177511" y="284729"/>
                  </a:lnTo>
                  <a:lnTo>
                    <a:pt x="135988" y="284729"/>
                  </a:lnTo>
                  <a:lnTo>
                    <a:pt x="60680" y="118128"/>
                  </a:lnTo>
                  <a:close/>
                  <a:moveTo>
                    <a:pt x="391637" y="145418"/>
                  </a:moveTo>
                  <a:cubicBezTo>
                    <a:pt x="391637" y="62322"/>
                    <a:pt x="458010" y="0"/>
                    <a:pt x="539421" y="0"/>
                  </a:cubicBezTo>
                  <a:cubicBezTo>
                    <a:pt x="620831" y="0"/>
                    <a:pt x="687204" y="62322"/>
                    <a:pt x="687204" y="145040"/>
                  </a:cubicBezTo>
                  <a:cubicBezTo>
                    <a:pt x="687204" y="227758"/>
                    <a:pt x="622875" y="290457"/>
                    <a:pt x="539421" y="290457"/>
                  </a:cubicBezTo>
                  <a:cubicBezTo>
                    <a:pt x="457979" y="290457"/>
                    <a:pt x="391637" y="228136"/>
                    <a:pt x="391637" y="145418"/>
                  </a:cubicBezTo>
                  <a:close/>
                  <a:moveTo>
                    <a:pt x="622875" y="145040"/>
                  </a:moveTo>
                  <a:cubicBezTo>
                    <a:pt x="622875" y="96567"/>
                    <a:pt x="586637" y="58671"/>
                    <a:pt x="539421" y="58671"/>
                  </a:cubicBezTo>
                  <a:cubicBezTo>
                    <a:pt x="492204" y="58671"/>
                    <a:pt x="455966" y="96567"/>
                    <a:pt x="455966" y="145449"/>
                  </a:cubicBezTo>
                  <a:cubicBezTo>
                    <a:pt x="455966" y="194331"/>
                    <a:pt x="492204" y="231818"/>
                    <a:pt x="539421" y="231818"/>
                  </a:cubicBezTo>
                  <a:cubicBezTo>
                    <a:pt x="586637" y="231818"/>
                    <a:pt x="622875" y="194331"/>
                    <a:pt x="622875" y="145040"/>
                  </a:cubicBezTo>
                  <a:close/>
                  <a:moveTo>
                    <a:pt x="763707" y="5697"/>
                  </a:moveTo>
                  <a:lnTo>
                    <a:pt x="878524" y="5697"/>
                  </a:lnTo>
                  <a:cubicBezTo>
                    <a:pt x="940809" y="5697"/>
                    <a:pt x="968491" y="40320"/>
                    <a:pt x="968491" y="81459"/>
                  </a:cubicBezTo>
                  <a:cubicBezTo>
                    <a:pt x="968491" y="106325"/>
                    <a:pt x="956695" y="126249"/>
                    <a:pt x="933479" y="138084"/>
                  </a:cubicBezTo>
                  <a:cubicBezTo>
                    <a:pt x="968491" y="148691"/>
                    <a:pt x="987208" y="172298"/>
                    <a:pt x="987208" y="204906"/>
                  </a:cubicBezTo>
                  <a:cubicBezTo>
                    <a:pt x="987208" y="250515"/>
                    <a:pt x="955059" y="284760"/>
                    <a:pt x="889094" y="284760"/>
                  </a:cubicBezTo>
                  <a:lnTo>
                    <a:pt x="763707" y="284760"/>
                  </a:lnTo>
                  <a:lnTo>
                    <a:pt x="763707" y="5697"/>
                  </a:lnTo>
                  <a:close/>
                  <a:moveTo>
                    <a:pt x="826810" y="59867"/>
                  </a:moveTo>
                  <a:lnTo>
                    <a:pt x="826810" y="116901"/>
                  </a:lnTo>
                  <a:lnTo>
                    <a:pt x="874026" y="116901"/>
                  </a:lnTo>
                  <a:cubicBezTo>
                    <a:pt x="895605" y="116901"/>
                    <a:pt x="906615" y="104688"/>
                    <a:pt x="906615" y="87974"/>
                  </a:cubicBezTo>
                  <a:cubicBezTo>
                    <a:pt x="906615" y="71261"/>
                    <a:pt x="895605" y="59867"/>
                    <a:pt x="874026" y="59867"/>
                  </a:cubicBezTo>
                  <a:lnTo>
                    <a:pt x="826810" y="59867"/>
                  </a:lnTo>
                  <a:close/>
                  <a:moveTo>
                    <a:pt x="826810" y="170283"/>
                  </a:moveTo>
                  <a:lnTo>
                    <a:pt x="826810" y="230559"/>
                  </a:lnTo>
                  <a:lnTo>
                    <a:pt x="885854" y="230559"/>
                  </a:lnTo>
                  <a:cubicBezTo>
                    <a:pt x="910296" y="230559"/>
                    <a:pt x="924137" y="218347"/>
                    <a:pt x="924137" y="201224"/>
                  </a:cubicBezTo>
                  <a:cubicBezTo>
                    <a:pt x="924137" y="182874"/>
                    <a:pt x="910296" y="170252"/>
                    <a:pt x="885445" y="170252"/>
                  </a:cubicBezTo>
                  <a:lnTo>
                    <a:pt x="826810" y="170252"/>
                  </a:lnTo>
                  <a:close/>
                  <a:moveTo>
                    <a:pt x="1224171" y="5697"/>
                  </a:moveTo>
                  <a:lnTo>
                    <a:pt x="1297875" y="5697"/>
                  </a:lnTo>
                  <a:lnTo>
                    <a:pt x="1187147" y="145008"/>
                  </a:lnTo>
                  <a:lnTo>
                    <a:pt x="1301146" y="284729"/>
                  </a:lnTo>
                  <a:lnTo>
                    <a:pt x="1219327" y="284729"/>
                  </a:lnTo>
                  <a:lnTo>
                    <a:pt x="1124894" y="165782"/>
                  </a:lnTo>
                  <a:lnTo>
                    <a:pt x="1124894" y="284729"/>
                  </a:lnTo>
                  <a:lnTo>
                    <a:pt x="1061792" y="284729"/>
                  </a:lnTo>
                  <a:lnTo>
                    <a:pt x="1061792" y="5697"/>
                  </a:lnTo>
                  <a:lnTo>
                    <a:pt x="1124894" y="5697"/>
                  </a:lnTo>
                  <a:lnTo>
                    <a:pt x="1124894" y="135660"/>
                  </a:lnTo>
                  <a:lnTo>
                    <a:pt x="1224171" y="5697"/>
                  </a:lnTo>
                  <a:close/>
                  <a:moveTo>
                    <a:pt x="1322663" y="145418"/>
                  </a:moveTo>
                  <a:cubicBezTo>
                    <a:pt x="1322663" y="62322"/>
                    <a:pt x="1389036" y="0"/>
                    <a:pt x="1470446" y="0"/>
                  </a:cubicBezTo>
                  <a:cubicBezTo>
                    <a:pt x="1551856" y="0"/>
                    <a:pt x="1618230" y="62322"/>
                    <a:pt x="1618230" y="145040"/>
                  </a:cubicBezTo>
                  <a:cubicBezTo>
                    <a:pt x="1618230" y="227758"/>
                    <a:pt x="1553901" y="290457"/>
                    <a:pt x="1470446" y="290457"/>
                  </a:cubicBezTo>
                  <a:cubicBezTo>
                    <a:pt x="1389005" y="290457"/>
                    <a:pt x="1322663" y="228136"/>
                    <a:pt x="1322663" y="145418"/>
                  </a:cubicBezTo>
                  <a:close/>
                  <a:moveTo>
                    <a:pt x="1553933" y="145040"/>
                  </a:moveTo>
                  <a:cubicBezTo>
                    <a:pt x="1553933" y="96567"/>
                    <a:pt x="1517694" y="58671"/>
                    <a:pt x="1470478" y="58671"/>
                  </a:cubicBezTo>
                  <a:cubicBezTo>
                    <a:pt x="1423261" y="58671"/>
                    <a:pt x="1387023" y="96567"/>
                    <a:pt x="1387023" y="145449"/>
                  </a:cubicBezTo>
                  <a:cubicBezTo>
                    <a:pt x="1387023" y="194331"/>
                    <a:pt x="1423261" y="231818"/>
                    <a:pt x="1470478" y="231818"/>
                  </a:cubicBezTo>
                  <a:cubicBezTo>
                    <a:pt x="1517694" y="231818"/>
                    <a:pt x="1553933" y="194331"/>
                    <a:pt x="1553933" y="145040"/>
                  </a:cubicBezTo>
                  <a:close/>
                  <a:moveTo>
                    <a:pt x="1694765" y="284760"/>
                  </a:moveTo>
                  <a:lnTo>
                    <a:pt x="1694765" y="5697"/>
                  </a:lnTo>
                  <a:lnTo>
                    <a:pt x="1757867" y="5697"/>
                  </a:lnTo>
                  <a:lnTo>
                    <a:pt x="1757867" y="284729"/>
                  </a:lnTo>
                  <a:lnTo>
                    <a:pt x="1694765" y="284729"/>
                  </a:lnTo>
                  <a:close/>
                </a:path>
              </a:pathLst>
            </a:custGeom>
            <a:solidFill>
              <a:schemeClr val="tx1"/>
            </a:solidFill>
            <a:ln w="313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概要：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altLang="ja-JP" sz="1400" b="1" spc="40" dirty="0"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Campaign Objectives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  <a:noFill/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実配信インプレッション数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配信予定インプレッション数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無償配信インプレッション数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配信達成率（無償配信数含む）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無償配信金額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684259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65259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オーディエンス</a:t>
              </a: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KPI</a:t>
              </a:r>
              <a:r>
                <a:rPr lang="en-GB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623462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2143124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623462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89094D-E517-FA88-A6C6-22C381580D53}"/>
                </a:ext>
              </a:extLst>
            </p:cNvPr>
            <p:cNvSpPr txBox="1"/>
            <p:nvPr/>
          </p:nvSpPr>
          <p:spPr>
            <a:xfrm>
              <a:off x="3397351" y="8262869"/>
              <a:ext cx="125627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クライアント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B51F2F-B9FC-AAD6-4FF0-3084956A9CFF}"/>
                </a:ext>
              </a:extLst>
            </p:cNvPr>
            <p:cNvSpPr txBox="1"/>
            <p:nvPr/>
          </p:nvSpPr>
          <p:spPr>
            <a:xfrm>
              <a:off x="4353497" y="8262868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7F362E4-5A12-9068-498B-77F7872CF6A8}"/>
                </a:ext>
              </a:extLst>
            </p:cNvPr>
            <p:cNvSpPr txBox="1"/>
            <p:nvPr/>
          </p:nvSpPr>
          <p:spPr>
            <a:xfrm>
              <a:off x="3397351" y="8540194"/>
              <a:ext cx="118932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キャンペーン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39E049-03E6-7582-56AE-CE3DA48E9E11}"/>
                </a:ext>
              </a:extLst>
            </p:cNvPr>
            <p:cNvSpPr txBox="1"/>
            <p:nvPr/>
          </p:nvSpPr>
          <p:spPr>
            <a:xfrm>
              <a:off x="3397351" y="8817520"/>
              <a:ext cx="10782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配信国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0DD670-AB92-529B-C1DD-E3830691F30E}"/>
                </a:ext>
              </a:extLst>
            </p:cNvPr>
            <p:cNvSpPr txBox="1"/>
            <p:nvPr/>
          </p:nvSpPr>
          <p:spPr>
            <a:xfrm>
              <a:off x="3397351" y="9094846"/>
              <a:ext cx="10782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配信期間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A833CA0-E061-100A-B47D-A3119611BFA9}"/>
                </a:ext>
              </a:extLst>
            </p:cNvPr>
            <p:cNvSpPr txBox="1"/>
            <p:nvPr/>
          </p:nvSpPr>
          <p:spPr>
            <a:xfrm>
              <a:off x="3397351" y="9372171"/>
              <a:ext cx="138140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実配信金額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2813B05-C328-F4C7-3D9D-BFD01CC75126}"/>
                </a:ext>
              </a:extLst>
            </p:cNvPr>
            <p:cNvSpPr txBox="1"/>
            <p:nvPr/>
          </p:nvSpPr>
          <p:spPr>
            <a:xfrm>
              <a:off x="4353497" y="8538876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0AE923-005E-BA5A-0DB9-5C54753DE175}"/>
                </a:ext>
              </a:extLst>
            </p:cNvPr>
            <p:cNvSpPr txBox="1"/>
            <p:nvPr/>
          </p:nvSpPr>
          <p:spPr>
            <a:xfrm>
              <a:off x="4353497" y="8814884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4ED627E-874B-9701-BAE8-66789D5B68DF}"/>
                </a:ext>
              </a:extLst>
            </p:cNvPr>
            <p:cNvSpPr txBox="1"/>
            <p:nvPr/>
          </p:nvSpPr>
          <p:spPr>
            <a:xfrm>
              <a:off x="4353496" y="9090892"/>
              <a:ext cx="37463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42D6B0-24E7-219C-F703-524A2E63467D}"/>
                </a:ext>
              </a:extLst>
            </p:cNvPr>
            <p:cNvSpPr txBox="1"/>
            <p:nvPr/>
          </p:nvSpPr>
          <p:spPr>
            <a:xfrm>
              <a:off x="4353497" y="9366899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CF6DC0E4-8898-28E1-1127-79F01213278A}"/>
                </a:ext>
              </a:extLst>
            </p:cNvPr>
            <p:cNvSpPr txBox="1"/>
            <p:nvPr/>
          </p:nvSpPr>
          <p:spPr>
            <a:xfrm>
              <a:off x="3397351" y="780627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Details</a:t>
              </a: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C112FAA0-7DE2-D884-9430-DD704994C4E6}"/>
                </a:ext>
              </a:extLst>
            </p:cNvPr>
            <p:cNvSpPr txBox="1"/>
            <p:nvPr/>
          </p:nvSpPr>
          <p:spPr>
            <a:xfrm>
              <a:off x="916319" y="14160461"/>
              <a:ext cx="1696848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Inter SemiBold" panose="02000503000000020004" pitchFamily="2" charset="0"/>
                  <a:cs typeface="Open Sans Semibold" panose="020B0606030504020204" pitchFamily="34" charset="0"/>
                  <a:sym typeface="Inter"/>
                </a:rPr>
                <a:t>ビューアビリティ</a:t>
              </a:r>
            </a:p>
          </p:txBody>
        </p:sp>
        <p:sp>
          <p:nvSpPr>
            <p:cNvPr id="26" name="Google Shape;100;p2">
              <a:extLst>
                <a:ext uri="{FF2B5EF4-FFF2-40B4-BE49-F238E27FC236}">
                  <a16:creationId xmlns:a16="http://schemas.microsoft.com/office/drawing/2014/main" id="{0406CDE9-CDDE-FF93-B97A-625FD27F6037}"/>
                </a:ext>
              </a:extLst>
            </p:cNvPr>
            <p:cNvSpPr txBox="1"/>
            <p:nvPr/>
          </p:nvSpPr>
          <p:spPr>
            <a:xfrm>
              <a:off x="916319" y="14354412"/>
              <a:ext cx="1696847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60 - 70% Benchmark</a:t>
              </a:r>
            </a:p>
          </p:txBody>
        </p:sp>
        <p:sp>
          <p:nvSpPr>
            <p:cNvPr id="27" name="Google Shape;114;p2">
              <a:extLst>
                <a:ext uri="{FF2B5EF4-FFF2-40B4-BE49-F238E27FC236}">
                  <a16:creationId xmlns:a16="http://schemas.microsoft.com/office/drawing/2014/main" id="{0AFE8D13-EE7D-7FE1-AA0B-C5342B4567B1}"/>
                </a:ext>
              </a:extLst>
            </p:cNvPr>
            <p:cNvSpPr txBox="1"/>
            <p:nvPr/>
          </p:nvSpPr>
          <p:spPr>
            <a:xfrm>
              <a:off x="3677702" y="14160461"/>
              <a:ext cx="1147214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Open Sans" panose="020B0606030504020204" pitchFamily="34" charset="0"/>
                  <a:cs typeface="Open Sans Semibold" panose="020B0606030504020204" pitchFamily="34" charset="0"/>
                  <a:sym typeface="Inter"/>
                </a:rPr>
                <a:t>クリック率</a:t>
              </a:r>
            </a:p>
          </p:txBody>
        </p:sp>
        <p:sp>
          <p:nvSpPr>
            <p:cNvPr id="28" name="Google Shape;100;p2">
              <a:extLst>
                <a:ext uri="{FF2B5EF4-FFF2-40B4-BE49-F238E27FC236}">
                  <a16:creationId xmlns:a16="http://schemas.microsoft.com/office/drawing/2014/main" id="{661B26FF-6FED-2B02-5591-499BC81210E8}"/>
                </a:ext>
              </a:extLst>
            </p:cNvPr>
            <p:cNvSpPr txBox="1"/>
            <p:nvPr/>
          </p:nvSpPr>
          <p:spPr>
            <a:xfrm>
              <a:off x="3677701" y="14354412"/>
              <a:ext cx="1661003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0.3-0.5 % Benchmark</a:t>
              </a:r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504BB456-20D4-C961-EAC0-586C0E1C2A67}"/>
                </a:ext>
              </a:extLst>
            </p:cNvPr>
            <p:cNvSpPr txBox="1"/>
            <p:nvPr/>
          </p:nvSpPr>
          <p:spPr>
            <a:xfrm>
              <a:off x="6386492" y="14160461"/>
              <a:ext cx="2168704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Open Sans" panose="020B0606030504020204" pitchFamily="34" charset="0"/>
                  <a:cs typeface="Open Sans Semibold" panose="020B0606030504020204" pitchFamily="34" charset="0"/>
                  <a:sym typeface="Inter"/>
                </a:rPr>
                <a:t>エンゲージメント率</a:t>
              </a: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733D7256-30D5-E9EC-905E-78E577C9B5B9}"/>
                </a:ext>
              </a:extLst>
            </p:cNvPr>
            <p:cNvSpPr txBox="1"/>
            <p:nvPr/>
          </p:nvSpPr>
          <p:spPr>
            <a:xfrm>
              <a:off x="6386491" y="14354412"/>
              <a:ext cx="184536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 – 0.5% Benchmark</a:t>
              </a: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D02E7A30-4FD5-9D5A-AD2B-614568E3D4C8}"/>
                </a:ext>
              </a:extLst>
            </p:cNvPr>
            <p:cNvSpPr txBox="1"/>
            <p:nvPr/>
          </p:nvSpPr>
          <p:spPr>
            <a:xfrm>
              <a:off x="9095266" y="14160461"/>
              <a:ext cx="2168704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Open Sans" panose="020B0606030504020204" pitchFamily="34" charset="0"/>
                  <a:cs typeface="Open Sans Semibold" panose="020B0606030504020204" pitchFamily="34" charset="0"/>
                  <a:sym typeface="Inter"/>
                </a:rPr>
                <a:t>動画視聴完了率</a:t>
              </a: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28F09418-15F3-03F9-F114-F55D4B70F430}"/>
                </a:ext>
              </a:extLst>
            </p:cNvPr>
            <p:cNvSpPr txBox="1"/>
            <p:nvPr/>
          </p:nvSpPr>
          <p:spPr>
            <a:xfrm>
              <a:off x="9095266" y="14354412"/>
              <a:ext cx="1548121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25 – 35% Benchmark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8325E64-F702-0E30-D3D1-3F622A036497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62E866F-2AA2-9D19-383F-3FF22C16610E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4F5ABA0-5C85-0AE4-D3B3-493DF9A3864B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621F014-55A3-66F4-DDD5-0BCAC2DD40D0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F28C399-B5AB-CAA6-3B75-E9D33474823D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9666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7487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80592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6232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7260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4296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9936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 Italic" panose="02000503000000020004" pitchFamily="2" charset="0"/>
                <a:ea typeface="Inter Italic" panose="02000503000000020004" pitchFamily="2" charset="0"/>
              </a:endParaRPr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90963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spc="40">
                  <a:solidFill>
                    <a:schemeClr val="accent6"/>
                  </a:solidFill>
                  <a:latin typeface="Inter Italic" panose="02000503000000020004" pitchFamily="2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4164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4110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4127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9666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01C2B15-C73B-2E15-30CC-19023C6A6B47}"/>
              </a:ext>
            </a:extLst>
          </p:cNvPr>
          <p:cNvGrpSpPr/>
          <p:nvPr/>
        </p:nvGrpSpPr>
        <p:grpSpPr>
          <a:xfrm>
            <a:off x="779458" y="6666741"/>
            <a:ext cx="10632989" cy="3915814"/>
            <a:chOff x="779458" y="6666741"/>
            <a:chExt cx="10632989" cy="391581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05913A24-35A2-76AD-6782-B3F8A487D0EE}"/>
                </a:ext>
              </a:extLst>
            </p:cNvPr>
            <p:cNvGrpSpPr/>
            <p:nvPr/>
          </p:nvGrpSpPr>
          <p:grpSpPr>
            <a:xfrm>
              <a:off x="779458" y="7418107"/>
              <a:ext cx="10632989" cy="3164448"/>
              <a:chOff x="779455" y="4439196"/>
              <a:chExt cx="10632989" cy="3164448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EAE141F7-547F-1FE4-0F25-E5D35B41C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23680" b="23680"/>
              <a:stretch/>
            </p:blipFill>
            <p:spPr>
              <a:xfrm>
                <a:off x="779455" y="4439196"/>
                <a:ext cx="10632989" cy="3164448"/>
              </a:xfrm>
              <a:prstGeom prst="roundRect">
                <a:avLst>
                  <a:gd name="adj" fmla="val 7425"/>
                </a:avLst>
              </a:prstGeom>
            </p:spPr>
          </p:pic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04E8F7BE-C86C-4661-9882-545CF969FD27}"/>
                  </a:ext>
                </a:extLst>
              </p:cNvPr>
              <p:cNvSpPr/>
              <p:nvPr/>
            </p:nvSpPr>
            <p:spPr>
              <a:xfrm>
                <a:off x="1136691" y="5132854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09B685D4-BE9A-8047-8401-07DC17DD7CCD}"/>
                  </a:ext>
                </a:extLst>
              </p:cNvPr>
              <p:cNvSpPr/>
              <p:nvPr/>
            </p:nvSpPr>
            <p:spPr>
              <a:xfrm>
                <a:off x="6418720" y="5127617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" name="Google Shape;110;p2">
                <a:extLst>
                  <a:ext uri="{FF2B5EF4-FFF2-40B4-BE49-F238E27FC236}">
                    <a16:creationId xmlns:a16="http://schemas.microsoft.com/office/drawing/2014/main" id="{EB55C6CB-83EA-7EF7-57EB-DF707DB3B49F}"/>
                  </a:ext>
                </a:extLst>
              </p:cNvPr>
              <p:cNvSpPr txBox="1"/>
              <p:nvPr/>
            </p:nvSpPr>
            <p:spPr>
              <a:xfrm>
                <a:off x="1244909" y="5238213"/>
                <a:ext cx="438280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defRPr/>
                </a:pPr>
                <a:r>
                  <a:rPr lang="en-GB" sz="2400" b="1" spc="100" dirty="0">
                    <a:solidFill>
                      <a:srgbClr val="1D1D1D"/>
                    </a:solidFill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N/A.N/AXM</a:t>
                </a:r>
              </a:p>
            </p:txBody>
          </p:sp>
          <p:pic>
            <p:nvPicPr>
              <p:cNvPr id="6" name="Picture 2" descr="logo-placeholder - Shop at RaceYa">
                <a:extLst>
                  <a:ext uri="{FF2B5EF4-FFF2-40B4-BE49-F238E27FC236}">
                    <a16:creationId xmlns:a16="http://schemas.microsoft.com/office/drawing/2014/main" id="{AACB2AAE-BB20-148B-8CEE-DC43332377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6746815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" name="Picture 2" descr="logo-placeholder - Shop at RaceYa">
                <a:extLst>
                  <a:ext uri="{FF2B5EF4-FFF2-40B4-BE49-F238E27FC236}">
                    <a16:creationId xmlns:a16="http://schemas.microsoft.com/office/drawing/2014/main" id="{2E11DC33-9CC5-B4EA-CEFE-2AAE2F3D22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8245942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2" descr="logo-placeholder - Shop at RaceYa">
                <a:extLst>
                  <a:ext uri="{FF2B5EF4-FFF2-40B4-BE49-F238E27FC236}">
                    <a16:creationId xmlns:a16="http://schemas.microsoft.com/office/drawing/2014/main" id="{B483E6FE-F364-FE96-BA21-9E4E9D4C6B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9745068" y="5268540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Google Shape;114;p2">
                <a:extLst>
                  <a:ext uri="{FF2B5EF4-FFF2-40B4-BE49-F238E27FC236}">
                    <a16:creationId xmlns:a16="http://schemas.microsoft.com/office/drawing/2014/main" id="{49DEC960-7FFD-C1B1-B58B-9FB8DEB707FE}"/>
                  </a:ext>
                </a:extLst>
              </p:cNvPr>
              <p:cNvSpPr txBox="1"/>
              <p:nvPr/>
            </p:nvSpPr>
            <p:spPr>
              <a:xfrm>
                <a:off x="1247095" y="6959528"/>
                <a:ext cx="2041799" cy="2307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1" i="0" u="none" strike="noStrike" kern="1200" cap="none" spc="4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 SemiBold" panose="02000503000000020004" pitchFamily="2" charset="0"/>
                    <a:ea typeface="Inter SemiBold" panose="02000503000000020004" pitchFamily="2" charset="0"/>
                    <a:cs typeface="Inter SemiBold" panose="02000503000000020004" pitchFamily="2" charset="0"/>
                    <a:sym typeface="Inter"/>
                  </a:rPr>
                  <a:t>Exposed Ad Recallers</a:t>
                </a:r>
                <a:endParaRPr kumimoji="0" sz="900" b="1" i="0" u="none" strike="noStrike" kern="1200" cap="none" spc="4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endParaRPr>
              </a:p>
            </p:txBody>
          </p:sp>
          <p:sp>
            <p:nvSpPr>
              <p:cNvPr id="11" name="Google Shape;110;p2">
                <a:extLst>
                  <a:ext uri="{FF2B5EF4-FFF2-40B4-BE49-F238E27FC236}">
                    <a16:creationId xmlns:a16="http://schemas.microsoft.com/office/drawing/2014/main" id="{3DF627C8-12BD-4BD6-FBC8-52BD6BF75C2E}"/>
                  </a:ext>
                </a:extLst>
              </p:cNvPr>
              <p:cNvSpPr txBox="1"/>
              <p:nvPr/>
            </p:nvSpPr>
            <p:spPr>
              <a:xfrm>
                <a:off x="1247095" y="6663660"/>
                <a:ext cx="2041799" cy="3692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8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4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0B353FAD-C586-530C-81F9-91C50274A52E}"/>
                  </a:ext>
                </a:extLst>
              </p:cNvPr>
              <p:cNvSpPr/>
              <p:nvPr/>
            </p:nvSpPr>
            <p:spPr>
              <a:xfrm>
                <a:off x="1136692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F9986D0-3DFE-88C1-8839-5EBFB2B8D19F}"/>
                  </a:ext>
                </a:extLst>
              </p:cNvPr>
              <p:cNvSpPr/>
              <p:nvPr/>
            </p:nvSpPr>
            <p:spPr>
              <a:xfrm>
                <a:off x="3790488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E69F6CBE-A150-9119-D890-0FE422E2BF40}"/>
                  </a:ext>
                </a:extLst>
              </p:cNvPr>
              <p:cNvSpPr/>
              <p:nvPr/>
            </p:nvSpPr>
            <p:spPr>
              <a:xfrm>
                <a:off x="6418720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C48F7DB5-5622-29F9-8C51-C79A6368E0E9}"/>
                  </a:ext>
                </a:extLst>
              </p:cNvPr>
              <p:cNvSpPr/>
              <p:nvPr/>
            </p:nvSpPr>
            <p:spPr>
              <a:xfrm>
                <a:off x="9072516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Google Shape;100;p2">
                <a:extLst>
                  <a:ext uri="{FF2B5EF4-FFF2-40B4-BE49-F238E27FC236}">
                    <a16:creationId xmlns:a16="http://schemas.microsoft.com/office/drawing/2014/main" id="{7B4B98E3-C3F1-79FC-6944-E5ADEA7D9AEC}"/>
                  </a:ext>
                </a:extLst>
              </p:cNvPr>
              <p:cNvSpPr txBox="1"/>
              <p:nvPr/>
            </p:nvSpPr>
            <p:spPr>
              <a:xfrm>
                <a:off x="1194841" y="6902043"/>
                <a:ext cx="1652531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ビューアブルインプレッションの割（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MRC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ビューアビリティの定義）</a:t>
                </a:r>
              </a:p>
            </p:txBody>
          </p:sp>
          <p:sp>
            <p:nvSpPr>
              <p:cNvPr id="17" name="Google Shape;100;p2">
                <a:extLst>
                  <a:ext uri="{FF2B5EF4-FFF2-40B4-BE49-F238E27FC236}">
                    <a16:creationId xmlns:a16="http://schemas.microsoft.com/office/drawing/2014/main" id="{C38DE183-7F09-ED0D-EEE3-AB52B97B88B4}"/>
                  </a:ext>
                </a:extLst>
              </p:cNvPr>
              <p:cNvSpPr txBox="1"/>
              <p:nvPr/>
            </p:nvSpPr>
            <p:spPr>
              <a:xfrm>
                <a:off x="6443617" y="6902043"/>
                <a:ext cx="1519765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en-US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0.2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秒以上視認されたインプレッションの割合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50%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8" name="Google Shape;100;p2">
                <a:extLst>
                  <a:ext uri="{FF2B5EF4-FFF2-40B4-BE49-F238E27FC236}">
                    <a16:creationId xmlns:a16="http://schemas.microsoft.com/office/drawing/2014/main" id="{159D224D-4BCC-7DC4-0B68-CB87142A8785}"/>
                  </a:ext>
                </a:extLst>
              </p:cNvPr>
              <p:cNvSpPr txBox="1"/>
              <p:nvPr/>
            </p:nvSpPr>
            <p:spPr>
              <a:xfrm>
                <a:off x="3843179" y="6902043"/>
                <a:ext cx="1784648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平均視認時間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 1.33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9" name="Google Shape;100;p2">
                <a:extLst>
                  <a:ext uri="{FF2B5EF4-FFF2-40B4-BE49-F238E27FC236}">
                    <a16:creationId xmlns:a16="http://schemas.microsoft.com/office/drawing/2014/main" id="{D9E82309-119C-1FB8-126F-DBFD4BBDE714}"/>
                  </a:ext>
                </a:extLst>
              </p:cNvPr>
              <p:cNvSpPr txBox="1"/>
              <p:nvPr/>
            </p:nvSpPr>
            <p:spPr>
              <a:xfrm>
                <a:off x="9117962" y="6902043"/>
                <a:ext cx="1826944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アテンションインプレッション当たりの平均アテンションタイム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2.7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50" name="Google Shape;110;p2">
                <a:extLst>
                  <a:ext uri="{FF2B5EF4-FFF2-40B4-BE49-F238E27FC236}">
                    <a16:creationId xmlns:a16="http://schemas.microsoft.com/office/drawing/2014/main" id="{68143CF7-6E3C-BAAD-9771-9FB0985D4B01}"/>
                  </a:ext>
                </a:extLst>
              </p:cNvPr>
              <p:cNvSpPr txBox="1"/>
              <p:nvPr/>
            </p:nvSpPr>
            <p:spPr>
              <a:xfrm>
                <a:off x="9117962" y="6485888"/>
                <a:ext cx="1826944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1" name="Google Shape;110;p2">
                <a:extLst>
                  <a:ext uri="{FF2B5EF4-FFF2-40B4-BE49-F238E27FC236}">
                    <a16:creationId xmlns:a16="http://schemas.microsoft.com/office/drawing/2014/main" id="{80E047D4-E9D7-7A9B-1A19-73C50E8E9E82}"/>
                  </a:ext>
                </a:extLst>
              </p:cNvPr>
              <p:cNvSpPr txBox="1"/>
              <p:nvPr/>
            </p:nvSpPr>
            <p:spPr>
              <a:xfrm>
                <a:off x="1194841" y="6485888"/>
                <a:ext cx="1797741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2" name="Google Shape;110;p2">
                <a:extLst>
                  <a:ext uri="{FF2B5EF4-FFF2-40B4-BE49-F238E27FC236}">
                    <a16:creationId xmlns:a16="http://schemas.microsoft.com/office/drawing/2014/main" id="{CB9DD13E-717E-DA8B-12EC-5FA7D1F729CA}"/>
                  </a:ext>
                </a:extLst>
              </p:cNvPr>
              <p:cNvSpPr txBox="1"/>
              <p:nvPr/>
            </p:nvSpPr>
            <p:spPr>
              <a:xfrm>
                <a:off x="3839899" y="6485888"/>
                <a:ext cx="178781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</a:p>
            </p:txBody>
          </p:sp>
          <p:sp>
            <p:nvSpPr>
              <p:cNvPr id="53" name="Google Shape;110;p2">
                <a:extLst>
                  <a:ext uri="{FF2B5EF4-FFF2-40B4-BE49-F238E27FC236}">
                    <a16:creationId xmlns:a16="http://schemas.microsoft.com/office/drawing/2014/main" id="{72B8BCA8-AFE9-612B-6A70-875992488DE3}"/>
                  </a:ext>
                </a:extLst>
              </p:cNvPr>
              <p:cNvSpPr txBox="1"/>
              <p:nvPr/>
            </p:nvSpPr>
            <p:spPr>
              <a:xfrm>
                <a:off x="6469550" y="6485888"/>
                <a:ext cx="1776392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</a:p>
            </p:txBody>
          </p:sp>
          <p:sp>
            <p:nvSpPr>
              <p:cNvPr id="54" name="Google Shape;114;p2">
                <a:extLst>
                  <a:ext uri="{FF2B5EF4-FFF2-40B4-BE49-F238E27FC236}">
                    <a16:creationId xmlns:a16="http://schemas.microsoft.com/office/drawing/2014/main" id="{E7CDDABD-76AA-161B-6112-D53310E45611}"/>
                  </a:ext>
                </a:extLst>
              </p:cNvPr>
              <p:cNvSpPr txBox="1"/>
              <p:nvPr/>
            </p:nvSpPr>
            <p:spPr>
              <a:xfrm>
                <a:off x="1142150" y="6017052"/>
                <a:ext cx="1919185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Viewable Rate</a:t>
                </a:r>
              </a:p>
            </p:txBody>
          </p:sp>
          <p:sp>
            <p:nvSpPr>
              <p:cNvPr id="55" name="Google Shape;114;p2">
                <a:extLst>
                  <a:ext uri="{FF2B5EF4-FFF2-40B4-BE49-F238E27FC236}">
                    <a16:creationId xmlns:a16="http://schemas.microsoft.com/office/drawing/2014/main" id="{15A5AD31-3D31-89DA-B3F9-67A7BC3BAFD4}"/>
                  </a:ext>
                </a:extLst>
              </p:cNvPr>
              <p:cNvSpPr txBox="1"/>
              <p:nvPr/>
            </p:nvSpPr>
            <p:spPr>
              <a:xfrm>
                <a:off x="6418721" y="6011815"/>
                <a:ext cx="1919186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Rate</a:t>
                </a:r>
              </a:p>
            </p:txBody>
          </p:sp>
          <p:sp>
            <p:nvSpPr>
              <p:cNvPr id="56" name="Google Shape;114;p2">
                <a:extLst>
                  <a:ext uri="{FF2B5EF4-FFF2-40B4-BE49-F238E27FC236}">
                    <a16:creationId xmlns:a16="http://schemas.microsoft.com/office/drawing/2014/main" id="{A4E392ED-8167-3891-A52F-98C9031FFEC9}"/>
                  </a:ext>
                </a:extLst>
              </p:cNvPr>
              <p:cNvSpPr txBox="1"/>
              <p:nvPr/>
            </p:nvSpPr>
            <p:spPr>
              <a:xfrm>
                <a:off x="3790489" y="6046054"/>
                <a:ext cx="192464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Time</a:t>
                </a:r>
              </a:p>
            </p:txBody>
          </p:sp>
          <p:sp>
            <p:nvSpPr>
              <p:cNvPr id="57" name="Google Shape;114;p2">
                <a:extLst>
                  <a:ext uri="{FF2B5EF4-FFF2-40B4-BE49-F238E27FC236}">
                    <a16:creationId xmlns:a16="http://schemas.microsoft.com/office/drawing/2014/main" id="{82FFA55C-6DDC-9AAC-E136-E81E1C3E6960}"/>
                  </a:ext>
                </a:extLst>
              </p:cNvPr>
              <p:cNvSpPr txBox="1"/>
              <p:nvPr/>
            </p:nvSpPr>
            <p:spPr>
              <a:xfrm>
                <a:off x="9061298" y="6020788"/>
                <a:ext cx="193586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Att. Time on Att. Imps</a:t>
                </a:r>
              </a:p>
            </p:txBody>
          </p:sp>
          <p:sp>
            <p:nvSpPr>
              <p:cNvPr id="58" name="Google Shape;114;p2">
                <a:extLst>
                  <a:ext uri="{FF2B5EF4-FFF2-40B4-BE49-F238E27FC236}">
                    <a16:creationId xmlns:a16="http://schemas.microsoft.com/office/drawing/2014/main" id="{6E327CD8-7E94-2626-1BA6-4A0EBFFE3119}"/>
                  </a:ext>
                </a:extLst>
              </p:cNvPr>
              <p:cNvSpPr txBox="1"/>
              <p:nvPr/>
            </p:nvSpPr>
            <p:spPr>
              <a:xfrm>
                <a:off x="1142150" y="4749161"/>
                <a:ext cx="4485566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Total Measured Impressions</a:t>
                </a:r>
              </a:p>
            </p:txBody>
          </p:sp>
          <p:sp>
            <p:nvSpPr>
              <p:cNvPr id="59" name="Google Shape;114;p2">
                <a:extLst>
                  <a:ext uri="{FF2B5EF4-FFF2-40B4-BE49-F238E27FC236}">
                    <a16:creationId xmlns:a16="http://schemas.microsoft.com/office/drawing/2014/main" id="{0261DE25-1ADA-6DC9-46B5-F6B8A3D383D3}"/>
                  </a:ext>
                </a:extLst>
              </p:cNvPr>
              <p:cNvSpPr txBox="1"/>
              <p:nvPr/>
            </p:nvSpPr>
            <p:spPr>
              <a:xfrm>
                <a:off x="6424179" y="4743924"/>
                <a:ext cx="282717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Top 3 Sites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8948179-8237-686D-9736-7BC190C43AA9}"/>
              </a:ext>
            </a:extLst>
          </p:cNvPr>
          <p:cNvGrpSpPr/>
          <p:nvPr/>
        </p:nvGrpSpPr>
        <p:grpSpPr>
          <a:xfrm>
            <a:off x="779455" y="6616100"/>
            <a:ext cx="10632989" cy="3966455"/>
            <a:chOff x="779455" y="6616100"/>
            <a:chExt cx="10632989" cy="3966455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67876DE-4321-3C2A-9BF8-7281D7AE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23981" b="23981"/>
            <a:stretch/>
          </p:blipFill>
          <p:spPr>
            <a:xfrm>
              <a:off x="779455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3AE847F9-4B84-BC25-38D4-9905F696A6A1}"/>
                </a:ext>
              </a:extLst>
            </p:cNvPr>
            <p:cNvSpPr/>
            <p:nvPr/>
          </p:nvSpPr>
          <p:spPr>
            <a:xfrm>
              <a:off x="1136691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Google Shape;114;p2">
              <a:extLst>
                <a:ext uri="{FF2B5EF4-FFF2-40B4-BE49-F238E27FC236}">
                  <a16:creationId xmlns:a16="http://schemas.microsoft.com/office/drawing/2014/main" id="{F9C430D8-E498-CF55-0C3D-2CA738FB3513}"/>
                </a:ext>
              </a:extLst>
            </p:cNvPr>
            <p:cNvSpPr txBox="1"/>
            <p:nvPr/>
          </p:nvSpPr>
          <p:spPr>
            <a:xfrm>
              <a:off x="1142150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Attribution 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広告想起）</a:t>
              </a: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B89DFC1C-B9B8-894A-2718-864625B84A9F}"/>
                </a:ext>
              </a:extLst>
            </p:cNvPr>
            <p:cNvSpPr txBox="1"/>
            <p:nvPr/>
          </p:nvSpPr>
          <p:spPr>
            <a:xfrm>
              <a:off x="3468621" y="7760897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43" name="Google Shape;114;p2">
              <a:extLst>
                <a:ext uri="{FF2B5EF4-FFF2-40B4-BE49-F238E27FC236}">
                  <a16:creationId xmlns:a16="http://schemas.microsoft.com/office/drawing/2014/main" id="{DCE2F7AA-2165-C309-7C8B-BDEC94785680}"/>
                </a:ext>
              </a:extLst>
            </p:cNvPr>
            <p:cNvSpPr txBox="1"/>
            <p:nvPr/>
          </p:nvSpPr>
          <p:spPr>
            <a:xfrm>
              <a:off x="1247095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2B3B7B91-94DF-A187-C4F6-8C88F0283F0F}"/>
                </a:ext>
              </a:extLst>
            </p:cNvPr>
            <p:cNvSpPr txBox="1"/>
            <p:nvPr/>
          </p:nvSpPr>
          <p:spPr>
            <a:xfrm>
              <a:off x="3596454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Google Shape;110;p2">
              <a:extLst>
                <a:ext uri="{FF2B5EF4-FFF2-40B4-BE49-F238E27FC236}">
                  <a16:creationId xmlns:a16="http://schemas.microsoft.com/office/drawing/2014/main" id="{B8164FFC-6D28-DFFF-6644-4AB4AD306DAA}"/>
                </a:ext>
              </a:extLst>
            </p:cNvPr>
            <p:cNvSpPr txBox="1"/>
            <p:nvPr/>
          </p:nvSpPr>
          <p:spPr>
            <a:xfrm>
              <a:off x="1247095" y="833266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6" name="Google Shape;110;p2">
              <a:extLst>
                <a:ext uri="{FF2B5EF4-FFF2-40B4-BE49-F238E27FC236}">
                  <a16:creationId xmlns:a16="http://schemas.microsoft.com/office/drawing/2014/main" id="{C4DA022E-F749-349A-9899-DC0B33FB4C5C}"/>
                </a:ext>
              </a:extLst>
            </p:cNvPr>
            <p:cNvSpPr txBox="1"/>
            <p:nvPr/>
          </p:nvSpPr>
          <p:spPr>
            <a:xfrm>
              <a:off x="3596454" y="833221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59CDF788-0643-005A-B804-EB65EBFD7DEA}"/>
                </a:ext>
              </a:extLst>
            </p:cNvPr>
            <p:cNvSpPr/>
            <p:nvPr/>
          </p:nvSpPr>
          <p:spPr>
            <a:xfrm>
              <a:off x="6418720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Google Shape;114;p2">
              <a:extLst>
                <a:ext uri="{FF2B5EF4-FFF2-40B4-BE49-F238E27FC236}">
                  <a16:creationId xmlns:a16="http://schemas.microsoft.com/office/drawing/2014/main" id="{AF2A6BDA-511E-9003-A31C-3224183D3384}"/>
                </a:ext>
              </a:extLst>
            </p:cNvPr>
            <p:cNvSpPr txBox="1"/>
            <p:nvPr/>
          </p:nvSpPr>
          <p:spPr>
            <a:xfrm>
              <a:off x="6424179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Consideration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検討）</a:t>
              </a:r>
            </a:p>
          </p:txBody>
        </p:sp>
        <p:sp>
          <p:nvSpPr>
            <p:cNvPr id="49" name="Google Shape;110;p2">
              <a:extLst>
                <a:ext uri="{FF2B5EF4-FFF2-40B4-BE49-F238E27FC236}">
                  <a16:creationId xmlns:a16="http://schemas.microsoft.com/office/drawing/2014/main" id="{33A12566-E7CF-735B-3D3E-EEF8A05A6FBE}"/>
                </a:ext>
              </a:extLst>
            </p:cNvPr>
            <p:cNvSpPr txBox="1"/>
            <p:nvPr/>
          </p:nvSpPr>
          <p:spPr>
            <a:xfrm>
              <a:off x="8750650" y="7755660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0" name="Google Shape;114;p2">
              <a:extLst>
                <a:ext uri="{FF2B5EF4-FFF2-40B4-BE49-F238E27FC236}">
                  <a16:creationId xmlns:a16="http://schemas.microsoft.com/office/drawing/2014/main" id="{610654BA-5ACC-1697-9C2E-CCE124DC9ECA}"/>
                </a:ext>
              </a:extLst>
            </p:cNvPr>
            <p:cNvSpPr txBox="1"/>
            <p:nvPr/>
          </p:nvSpPr>
          <p:spPr>
            <a:xfrm>
              <a:off x="6529124" y="862329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14;p2">
              <a:extLst>
                <a:ext uri="{FF2B5EF4-FFF2-40B4-BE49-F238E27FC236}">
                  <a16:creationId xmlns:a16="http://schemas.microsoft.com/office/drawing/2014/main" id="{48601621-97FA-4752-112B-46ECB16A45C0}"/>
                </a:ext>
              </a:extLst>
            </p:cNvPr>
            <p:cNvSpPr txBox="1"/>
            <p:nvPr/>
          </p:nvSpPr>
          <p:spPr>
            <a:xfrm>
              <a:off x="8878483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2" name="Google Shape;110;p2">
              <a:extLst>
                <a:ext uri="{FF2B5EF4-FFF2-40B4-BE49-F238E27FC236}">
                  <a16:creationId xmlns:a16="http://schemas.microsoft.com/office/drawing/2014/main" id="{A9D67E1D-402D-56FA-84C9-C1186337068F}"/>
                </a:ext>
              </a:extLst>
            </p:cNvPr>
            <p:cNvSpPr txBox="1"/>
            <p:nvPr/>
          </p:nvSpPr>
          <p:spPr>
            <a:xfrm>
              <a:off x="6529124" y="832742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3" name="Google Shape;110;p2">
              <a:extLst>
                <a:ext uri="{FF2B5EF4-FFF2-40B4-BE49-F238E27FC236}">
                  <a16:creationId xmlns:a16="http://schemas.microsoft.com/office/drawing/2014/main" id="{1204B85C-006A-43BC-E2F7-694E9710812D}"/>
                </a:ext>
              </a:extLst>
            </p:cNvPr>
            <p:cNvSpPr txBox="1"/>
            <p:nvPr/>
          </p:nvSpPr>
          <p:spPr>
            <a:xfrm>
              <a:off x="8878483" y="832698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373B7C7F-44BC-F48F-AAB2-2CA7B651FC6F}"/>
                </a:ext>
              </a:extLst>
            </p:cNvPr>
            <p:cNvSpPr/>
            <p:nvPr/>
          </p:nvSpPr>
          <p:spPr>
            <a:xfrm>
              <a:off x="1136691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Google Shape;114;p2">
              <a:extLst>
                <a:ext uri="{FF2B5EF4-FFF2-40B4-BE49-F238E27FC236}">
                  <a16:creationId xmlns:a16="http://schemas.microsoft.com/office/drawing/2014/main" id="{55CE9533-BFC1-733E-219B-2FBB662AF6D9}"/>
                </a:ext>
              </a:extLst>
            </p:cNvPr>
            <p:cNvSpPr txBox="1"/>
            <p:nvPr/>
          </p:nvSpPr>
          <p:spPr>
            <a:xfrm>
              <a:off x="1142150" y="9221008"/>
              <a:ext cx="3506852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Brand Familiarity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ブランド認知）</a:t>
              </a:r>
            </a:p>
          </p:txBody>
        </p:sp>
        <p:sp>
          <p:nvSpPr>
            <p:cNvPr id="56" name="Google Shape;110;p2">
              <a:extLst>
                <a:ext uri="{FF2B5EF4-FFF2-40B4-BE49-F238E27FC236}">
                  <a16:creationId xmlns:a16="http://schemas.microsoft.com/office/drawing/2014/main" id="{751BB353-8C83-72EE-216F-A73ECE533778}"/>
                </a:ext>
              </a:extLst>
            </p:cNvPr>
            <p:cNvSpPr txBox="1"/>
            <p:nvPr/>
          </p:nvSpPr>
          <p:spPr>
            <a:xfrm>
              <a:off x="3468621" y="9101182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7" name="Google Shape;114;p2">
              <a:extLst>
                <a:ext uri="{FF2B5EF4-FFF2-40B4-BE49-F238E27FC236}">
                  <a16:creationId xmlns:a16="http://schemas.microsoft.com/office/drawing/2014/main" id="{E5DA60F0-5681-7056-0CC4-E5D525BE6E0F}"/>
                </a:ext>
              </a:extLst>
            </p:cNvPr>
            <p:cNvSpPr txBox="1"/>
            <p:nvPr/>
          </p:nvSpPr>
          <p:spPr>
            <a:xfrm>
              <a:off x="1247095" y="996881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8" name="Google Shape;114;p2">
              <a:extLst>
                <a:ext uri="{FF2B5EF4-FFF2-40B4-BE49-F238E27FC236}">
                  <a16:creationId xmlns:a16="http://schemas.microsoft.com/office/drawing/2014/main" id="{DF37F6D0-EC9D-0582-63E4-220AFA04600D}"/>
                </a:ext>
              </a:extLst>
            </p:cNvPr>
            <p:cNvSpPr txBox="1"/>
            <p:nvPr/>
          </p:nvSpPr>
          <p:spPr>
            <a:xfrm>
              <a:off x="3596454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9" name="Google Shape;110;p2">
              <a:extLst>
                <a:ext uri="{FF2B5EF4-FFF2-40B4-BE49-F238E27FC236}">
                  <a16:creationId xmlns:a16="http://schemas.microsoft.com/office/drawing/2014/main" id="{3AFC10B0-D67D-D9A4-813B-1189E1A918FA}"/>
                </a:ext>
              </a:extLst>
            </p:cNvPr>
            <p:cNvSpPr txBox="1"/>
            <p:nvPr/>
          </p:nvSpPr>
          <p:spPr>
            <a:xfrm>
              <a:off x="1247095" y="967294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0" name="Google Shape;110;p2">
              <a:extLst>
                <a:ext uri="{FF2B5EF4-FFF2-40B4-BE49-F238E27FC236}">
                  <a16:creationId xmlns:a16="http://schemas.microsoft.com/office/drawing/2014/main" id="{1701E31E-B215-A42F-2F36-6BDC8EAB4205}"/>
                </a:ext>
              </a:extLst>
            </p:cNvPr>
            <p:cNvSpPr txBox="1"/>
            <p:nvPr/>
          </p:nvSpPr>
          <p:spPr>
            <a:xfrm>
              <a:off x="3596454" y="967250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C799EC50-5C55-277D-DBC7-4C23822384B9}"/>
                </a:ext>
              </a:extLst>
            </p:cNvPr>
            <p:cNvSpPr/>
            <p:nvPr/>
          </p:nvSpPr>
          <p:spPr>
            <a:xfrm>
              <a:off x="6418720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Google Shape;114;p2">
              <a:extLst>
                <a:ext uri="{FF2B5EF4-FFF2-40B4-BE49-F238E27FC236}">
                  <a16:creationId xmlns:a16="http://schemas.microsoft.com/office/drawing/2014/main" id="{AE525147-2D83-C29C-075C-9868EACAB015}"/>
                </a:ext>
              </a:extLst>
            </p:cNvPr>
            <p:cNvSpPr txBox="1"/>
            <p:nvPr/>
          </p:nvSpPr>
          <p:spPr>
            <a:xfrm>
              <a:off x="6424179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Preference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好意度）</a:t>
              </a:r>
            </a:p>
          </p:txBody>
        </p:sp>
        <p:sp>
          <p:nvSpPr>
            <p:cNvPr id="63" name="Google Shape;110;p2">
              <a:extLst>
                <a:ext uri="{FF2B5EF4-FFF2-40B4-BE49-F238E27FC236}">
                  <a16:creationId xmlns:a16="http://schemas.microsoft.com/office/drawing/2014/main" id="{1B9F9AE8-167D-C2E9-132C-5CD6BE24F5B5}"/>
                </a:ext>
              </a:extLst>
            </p:cNvPr>
            <p:cNvSpPr txBox="1"/>
            <p:nvPr/>
          </p:nvSpPr>
          <p:spPr>
            <a:xfrm>
              <a:off x="8750650" y="9095945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64" name="Google Shape;114;p2">
              <a:extLst>
                <a:ext uri="{FF2B5EF4-FFF2-40B4-BE49-F238E27FC236}">
                  <a16:creationId xmlns:a16="http://schemas.microsoft.com/office/drawing/2014/main" id="{463AF7E7-D5E9-D0E7-91B7-33B8C21CBF86}"/>
                </a:ext>
              </a:extLst>
            </p:cNvPr>
            <p:cNvSpPr txBox="1"/>
            <p:nvPr/>
          </p:nvSpPr>
          <p:spPr>
            <a:xfrm>
              <a:off x="6529124" y="996357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5" name="Google Shape;114;p2">
              <a:extLst>
                <a:ext uri="{FF2B5EF4-FFF2-40B4-BE49-F238E27FC236}">
                  <a16:creationId xmlns:a16="http://schemas.microsoft.com/office/drawing/2014/main" id="{1251F769-7CB4-E525-59BD-706D083E2719}"/>
                </a:ext>
              </a:extLst>
            </p:cNvPr>
            <p:cNvSpPr txBox="1"/>
            <p:nvPr/>
          </p:nvSpPr>
          <p:spPr>
            <a:xfrm>
              <a:off x="8878483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6" name="Google Shape;110;p2">
              <a:extLst>
                <a:ext uri="{FF2B5EF4-FFF2-40B4-BE49-F238E27FC236}">
                  <a16:creationId xmlns:a16="http://schemas.microsoft.com/office/drawing/2014/main" id="{A1B69535-D3FD-1997-6DB9-6D757E18280F}"/>
                </a:ext>
              </a:extLst>
            </p:cNvPr>
            <p:cNvSpPr txBox="1"/>
            <p:nvPr/>
          </p:nvSpPr>
          <p:spPr>
            <a:xfrm>
              <a:off x="6529124" y="9667708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7" name="Google Shape;110;p2">
              <a:extLst>
                <a:ext uri="{FF2B5EF4-FFF2-40B4-BE49-F238E27FC236}">
                  <a16:creationId xmlns:a16="http://schemas.microsoft.com/office/drawing/2014/main" id="{AA23BFBC-9C76-9F53-F77D-FB13CA9EFA15}"/>
                </a:ext>
              </a:extLst>
            </p:cNvPr>
            <p:cNvSpPr txBox="1"/>
            <p:nvPr/>
          </p:nvSpPr>
          <p:spPr>
            <a:xfrm>
              <a:off x="8878483" y="966726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8" name="Google Shape;100;p2">
              <a:extLst>
                <a:ext uri="{FF2B5EF4-FFF2-40B4-BE49-F238E27FC236}">
                  <a16:creationId xmlns:a16="http://schemas.microsoft.com/office/drawing/2014/main" id="{83743652-2E11-8D67-F89A-610DC135CBA5}"/>
                </a:ext>
              </a:extLst>
            </p:cNvPr>
            <p:cNvSpPr txBox="1"/>
            <p:nvPr/>
          </p:nvSpPr>
          <p:spPr>
            <a:xfrm>
              <a:off x="1142150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69" name="Google Shape;100;p2">
              <a:extLst>
                <a:ext uri="{FF2B5EF4-FFF2-40B4-BE49-F238E27FC236}">
                  <a16:creationId xmlns:a16="http://schemas.microsoft.com/office/drawing/2014/main" id="{B36A09D3-7738-048E-1DB2-BF92E0D824EA}"/>
                </a:ext>
              </a:extLst>
            </p:cNvPr>
            <p:cNvSpPr txBox="1"/>
            <p:nvPr/>
          </p:nvSpPr>
          <p:spPr>
            <a:xfrm>
              <a:off x="6424179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0" name="Google Shape;100;p2">
              <a:extLst>
                <a:ext uri="{FF2B5EF4-FFF2-40B4-BE49-F238E27FC236}">
                  <a16:creationId xmlns:a16="http://schemas.microsoft.com/office/drawing/2014/main" id="{9BD232C2-3C2F-AC6A-3B9E-C5654426C0F3}"/>
                </a:ext>
              </a:extLst>
            </p:cNvPr>
            <p:cNvSpPr txBox="1"/>
            <p:nvPr/>
          </p:nvSpPr>
          <p:spPr>
            <a:xfrm>
              <a:off x="1142150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1" name="Google Shape;100;p2">
              <a:extLst>
                <a:ext uri="{FF2B5EF4-FFF2-40B4-BE49-F238E27FC236}">
                  <a16:creationId xmlns:a16="http://schemas.microsoft.com/office/drawing/2014/main" id="{7E512040-602F-2FA4-AD7A-C690A3DF0FBD}"/>
                </a:ext>
              </a:extLst>
            </p:cNvPr>
            <p:cNvSpPr txBox="1"/>
            <p:nvPr/>
          </p:nvSpPr>
          <p:spPr>
            <a:xfrm>
              <a:off x="6424179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想起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ブランド選択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低アテンション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高アテンション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US" altLang="ja-JP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総評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サイト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3384</TotalTime>
  <Words>2697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3" baseType="lpstr">
      <vt:lpstr>Poppins</vt:lpstr>
      <vt:lpstr>Inter</vt:lpstr>
      <vt:lpstr>Calibri</vt:lpstr>
      <vt:lpstr>Inter SemiBold</vt:lpstr>
      <vt:lpstr>Aptos</vt:lpstr>
      <vt:lpstr>Arial</vt:lpstr>
      <vt:lpstr>Inter Medium</vt:lpstr>
      <vt:lpstr>Inter Italic</vt:lpstr>
      <vt:lpstr>Open Sans</vt:lpstr>
      <vt:lpstr>Calibri Light</vt:lpstr>
      <vt:lpstr>Open Sans Semibold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88</cp:revision>
  <dcterms:created xsi:type="dcterms:W3CDTF">2025-02-28T16:34:04Z</dcterms:created>
  <dcterms:modified xsi:type="dcterms:W3CDTF">2026-09-08T13:31:02Z</dcterms:modified>
</cp:coreProperties>
</file>