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Italic" panose="02000503000000020004" pitchFamily="2" charset="0"/>
      <p:regular r:id="rId19"/>
      <p:bold r:id="rId20"/>
      <p:italic r:id="rId21"/>
    </p:embeddedFont>
    <p:embeddedFont>
      <p:font typeface="Inter Medium" panose="02000503000000020004" pitchFamily="2" charset="0"/>
      <p:regular r:id="rId22"/>
      <p:italic r:id="rId23"/>
    </p:embeddedFont>
    <p:embeddedFont>
      <p:font typeface="Inter SemiBold" panose="02000503000000020004" pitchFamily="2" charset="0"/>
      <p:regular r:id="rId18"/>
      <p:bold r:id="rId18"/>
      <p:italic r:id="rId18"/>
      <p:boldItalic r:id="rId24"/>
    </p:embeddedFont>
    <p:embeddedFont>
      <p:font typeface="Open Sans" panose="020B0606030504020204" pitchFamily="34" charset="0"/>
      <p:regular r:id="rId25"/>
    </p:embeddedFont>
    <p:embeddedFont>
      <p:font typeface="Open Sans Semibold" panose="020B0606030504020204" pitchFamily="34" charset="0"/>
      <p:regular r:id="rId26"/>
      <p:bold r:id="rId27"/>
    </p:embeddedFont>
    <p:embeddedFont>
      <p:font typeface="Poppins" pitchFamily="2" charset="77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776"/>
    <p:restoredTop sz="96846"/>
  </p:normalViewPr>
  <p:slideViewPr>
    <p:cSldViewPr snapToGrid="0">
      <p:cViewPr>
        <p:scale>
          <a:sx n="140" d="100"/>
          <a:sy n="140" d="100"/>
        </p:scale>
        <p:origin x="57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112791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PCA</a:t>
            </a:r>
            <a:r>
              <a:rPr lang="ja-JP" altLang="en-US" sz="1600" b="1" spc="6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レポート結果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481D985-1A1A-3C22-A164-CD9C1F7EC9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キャンペーン分析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キャンペーン詳細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ja-JP" altLang="en-US" sz="800" b="1" spc="3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クリエイティブフォーマット：</a:t>
            </a:r>
            <a:endParaRPr lang="en-US" altLang="ja-JP" sz="800" b="1" spc="30" dirty="0">
              <a:solidFill>
                <a:schemeClr val="bg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481585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256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クライアント：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1893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市場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ライブ日程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800" b="1" spc="3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実際の支出額 </a:t>
            </a:r>
            <a:r>
              <a:rPr lang="en-GB" sz="800" b="1" spc="3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GB" sz="800" spc="3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47CE601-320E-FFB8-D06C-30488ACAAF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latin typeface="Inter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主要人物</a:t>
            </a:r>
            <a:endParaRPr lang="en-GB" sz="1100" b="1" spc="40" dirty="0">
              <a:latin typeface="Inter" panose="02000503000000020004" pitchFamily="2" charset="0"/>
              <a:ea typeface="Inter" panose="02000503000000020004" pitchFamily="2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Inter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Open Sans" panose="020B0606030504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spc="40">
                <a:latin typeface="Open Sans Semibold" panose="020B0606030504020204" pitchFamily="34" charset="0"/>
                <a:ea typeface="Inter SemiBold" panose="02000503000000020004" pitchFamily="2" charset="0"/>
                <a:cs typeface="Open Sans Semibold" panose="020B0606030504020204" pitchFamily="34" charset="0"/>
                <a:sym typeface="Inter"/>
              </a:rPr>
              <a:t>オンスクリーン</a:t>
            </a:r>
            <a:endParaRPr sz="800" spc="40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Inter Medium" panose="02000503000000020004" pitchFamily="2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70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Inter Medium" panose="02000503000000020004" pitchFamily="2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クリック率</a:t>
            </a:r>
            <a:endParaRPr sz="800" spc="40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エンゲージメント率</a:t>
            </a:r>
            <a:endParaRPr sz="800" spc="40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800" spc="40">
                <a:latin typeface="Open Sans Semibold" panose="020B0606030504020204" pitchFamily="34" charset="0"/>
                <a:ea typeface="Open Sans" panose="020B0606030504020204" pitchFamily="34" charset="0"/>
                <a:cs typeface="Open Sans Semibold" panose="020B0606030504020204" pitchFamily="34" charset="0"/>
                <a:sym typeface="Inter"/>
              </a:rPr>
              <a:t>動画視聴完了率</a:t>
            </a:r>
            <a:endParaRPr sz="800" spc="40" dirty="0">
              <a:latin typeface="Open Sans Semibold" panose="020B0606030504020204" pitchFamily="34" charset="0"/>
              <a:ea typeface="Open Sans Semibold" panose="020B0606030504020204" pitchFamily="34" charset="0"/>
              <a:cs typeface="Open Sans Semibold" panose="020B0606030504020204" pitchFamily="34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500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35</a:t>
            </a:r>
            <a:r>
              <a:rPr lang="ja-JP" altLang="en-US" sz="500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500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F2276292-D90E-DCD6-CB63-499EB26149BD}"/>
              </a:ext>
            </a:extLst>
          </p:cNvPr>
          <p:cNvSpPr txBox="1"/>
          <p:nvPr/>
        </p:nvSpPr>
        <p:spPr>
          <a:xfrm>
            <a:off x="912807" y="239307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latin typeface="Inter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キャンペーンの目的</a:t>
            </a:r>
            <a:endParaRPr lang="en-GB" sz="1100" b="1" spc="40" dirty="0">
              <a:latin typeface="Inter" panose="02000503000000020004" pitchFamily="2" charset="0"/>
              <a:ea typeface="Inter" panose="02000503000000020004" pitchFamily="2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E8F13C-F60B-40B5-2002-C325D5400B21}"/>
              </a:ext>
            </a:extLst>
          </p:cNvPr>
          <p:cNvSpPr txBox="1"/>
          <p:nvPr/>
        </p:nvSpPr>
        <p:spPr>
          <a:xfrm>
            <a:off x="912807" y="2718761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ja-JP" altLang="en-US" sz="800" spc="30">
                <a:solidFill>
                  <a:schemeClr val="bg1"/>
                </a:solidFill>
                <a:latin typeface="Inter Italic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概要：</a:t>
            </a:r>
            <a:endParaRPr lang="en-US" altLang="ja-JP" sz="800" spc="30" dirty="0">
              <a:solidFill>
                <a:schemeClr val="bg1"/>
              </a:solidFill>
              <a:latin typeface="Inter Italic" panose="02000503000000020004" pitchFamily="2" charset="0"/>
              <a:ea typeface="Inter Italic" panose="02000503000000020004" pitchFamily="2" charset="0"/>
              <a:cs typeface="Open Sans" panose="020B0606030504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8A2ACB-BAFB-D40B-6B3D-1A09139790E6}"/>
              </a:ext>
            </a:extLst>
          </p:cNvPr>
          <p:cNvSpPr txBox="1"/>
          <p:nvPr/>
        </p:nvSpPr>
        <p:spPr>
          <a:xfrm>
            <a:off x="912806" y="3158334"/>
            <a:ext cx="164170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ja-JP" altLang="en-US" sz="800" spc="30">
                <a:solidFill>
                  <a:schemeClr val="bg1"/>
                </a:solidFill>
                <a:latin typeface="Inter Italic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オーディエンス：</a:t>
            </a:r>
            <a:endParaRPr lang="en-US" altLang="ja-JP" sz="800" spc="30" dirty="0">
              <a:solidFill>
                <a:schemeClr val="bg1"/>
              </a:solidFill>
              <a:latin typeface="Inter Italic" panose="02000503000000020004" pitchFamily="2" charset="0"/>
              <a:ea typeface="Inter Italic" panose="02000503000000020004" pitchFamily="2" charset="0"/>
              <a:cs typeface="Open Sans" panose="020B0606030504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3FB5B5-677E-5D4A-EFA3-41135878C40D}"/>
              </a:ext>
            </a:extLst>
          </p:cNvPr>
          <p:cNvSpPr txBox="1"/>
          <p:nvPr/>
        </p:nvSpPr>
        <p:spPr>
          <a:xfrm>
            <a:off x="912807" y="3547915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617987-A426-F666-E130-F045239F9293}"/>
              </a:ext>
            </a:extLst>
          </p:cNvPr>
          <p:cNvSpPr txBox="1"/>
          <p:nvPr/>
        </p:nvSpPr>
        <p:spPr>
          <a:xfrm>
            <a:off x="1558616" y="2688583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CC95D2-919D-CB46-A0AF-0FCFF82C908E}"/>
              </a:ext>
            </a:extLst>
          </p:cNvPr>
          <p:cNvSpPr txBox="1"/>
          <p:nvPr/>
        </p:nvSpPr>
        <p:spPr>
          <a:xfrm>
            <a:off x="2119352" y="3128156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343CED-61B8-DE8C-0BFA-F6A13889F9F6}"/>
              </a:ext>
            </a:extLst>
          </p:cNvPr>
          <p:cNvSpPr txBox="1"/>
          <p:nvPr/>
        </p:nvSpPr>
        <p:spPr>
          <a:xfrm>
            <a:off x="1558616" y="3517737"/>
            <a:ext cx="6067135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B39B84D-95C1-181E-0D40-11E7EF826F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キャンペーン概要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sp>
        <p:nvSpPr>
          <p:cNvPr id="124" name="Google Shape;100;p2">
            <a:extLst>
              <a:ext uri="{FF2B5EF4-FFF2-40B4-BE49-F238E27FC236}">
                <a16:creationId xmlns:a16="http://schemas.microsoft.com/office/drawing/2014/main" id="{437ED21B-256C-7751-B7B7-0569E2EA4EB1}"/>
              </a:ext>
            </a:extLst>
          </p:cNvPr>
          <p:cNvSpPr txBox="1"/>
          <p:nvPr/>
        </p:nvSpPr>
        <p:spPr>
          <a:xfrm>
            <a:off x="1202057" y="3159576"/>
            <a:ext cx="1752548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{{DELIVERED_IMPRESSIONS}}</a:t>
            </a:r>
          </a:p>
        </p:txBody>
      </p:sp>
      <p:sp>
        <p:nvSpPr>
          <p:cNvPr id="125" name="Google Shape;100;p2">
            <a:extLst>
              <a:ext uri="{FF2B5EF4-FFF2-40B4-BE49-F238E27FC236}">
                <a16:creationId xmlns:a16="http://schemas.microsoft.com/office/drawing/2014/main" id="{1AD03DB7-8BF6-C322-4CAD-B0CE9AFBCEF2}"/>
              </a:ext>
            </a:extLst>
          </p:cNvPr>
          <p:cNvSpPr txBox="1"/>
          <p:nvPr/>
        </p:nvSpPr>
        <p:spPr>
          <a:xfrm>
            <a:off x="1202055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実配信インプレッション数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68" name="Google Shape;100;p2">
            <a:extLst>
              <a:ext uri="{FF2B5EF4-FFF2-40B4-BE49-F238E27FC236}">
                <a16:creationId xmlns:a16="http://schemas.microsoft.com/office/drawing/2014/main" id="{0B815B41-7342-8A0C-6F35-DF4E9599F245}"/>
              </a:ext>
            </a:extLst>
          </p:cNvPr>
          <p:cNvSpPr txBox="1"/>
          <p:nvPr/>
        </p:nvSpPr>
        <p:spPr>
          <a:xfrm>
            <a:off x="3175359" y="3159576"/>
            <a:ext cx="1752548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{{IO_OVERALL_IMPRESSIONS}}</a:t>
            </a:r>
          </a:p>
        </p:txBody>
      </p:sp>
      <p:sp>
        <p:nvSpPr>
          <p:cNvPr id="169" name="Google Shape;100;p2">
            <a:extLst>
              <a:ext uri="{FF2B5EF4-FFF2-40B4-BE49-F238E27FC236}">
                <a16:creationId xmlns:a16="http://schemas.microsoft.com/office/drawing/2014/main" id="{EA12E97F-B89B-0A71-F1FB-13BC6B51F1D2}"/>
              </a:ext>
            </a:extLst>
          </p:cNvPr>
          <p:cNvSpPr txBox="1"/>
          <p:nvPr/>
        </p:nvSpPr>
        <p:spPr>
          <a:xfrm>
            <a:off x="3175357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配信予定インプレッション数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1" name="Google Shape;100;p2">
            <a:extLst>
              <a:ext uri="{FF2B5EF4-FFF2-40B4-BE49-F238E27FC236}">
                <a16:creationId xmlns:a16="http://schemas.microsoft.com/office/drawing/2014/main" id="{AEADC4FD-B7F4-78CE-B3D9-15E87C9423D2}"/>
              </a:ext>
            </a:extLst>
          </p:cNvPr>
          <p:cNvSpPr txBox="1"/>
          <p:nvPr/>
        </p:nvSpPr>
        <p:spPr>
          <a:xfrm>
            <a:off x="5148661" y="3159576"/>
            <a:ext cx="1880292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{{ADDED_VALUE_IMPRESSIONS}}</a:t>
            </a:r>
          </a:p>
        </p:txBody>
      </p:sp>
      <p:sp>
        <p:nvSpPr>
          <p:cNvPr id="172" name="Google Shape;100;p2">
            <a:extLst>
              <a:ext uri="{FF2B5EF4-FFF2-40B4-BE49-F238E27FC236}">
                <a16:creationId xmlns:a16="http://schemas.microsoft.com/office/drawing/2014/main" id="{9E6E572A-2A41-F21A-A9FD-3C4E428F1E98}"/>
              </a:ext>
            </a:extLst>
          </p:cNvPr>
          <p:cNvSpPr txBox="1"/>
          <p:nvPr/>
        </p:nvSpPr>
        <p:spPr>
          <a:xfrm>
            <a:off x="5148659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無償配信インプレッション数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4" name="Google Shape;100;p2">
            <a:extLst>
              <a:ext uri="{FF2B5EF4-FFF2-40B4-BE49-F238E27FC236}">
                <a16:creationId xmlns:a16="http://schemas.microsoft.com/office/drawing/2014/main" id="{FC0350E0-FFF5-F11A-CA51-CB2E02AF3B28}"/>
              </a:ext>
            </a:extLst>
          </p:cNvPr>
          <p:cNvSpPr txBox="1"/>
          <p:nvPr/>
        </p:nvSpPr>
        <p:spPr>
          <a:xfrm>
            <a:off x="7121963" y="3159576"/>
            <a:ext cx="1880292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{{DELIVERY_WITH_AV_PERCENT}}</a:t>
            </a:r>
          </a:p>
        </p:txBody>
      </p:sp>
      <p:sp>
        <p:nvSpPr>
          <p:cNvPr id="175" name="Google Shape;100;p2">
            <a:extLst>
              <a:ext uri="{FF2B5EF4-FFF2-40B4-BE49-F238E27FC236}">
                <a16:creationId xmlns:a16="http://schemas.microsoft.com/office/drawing/2014/main" id="{3FB33B2F-E46C-2236-B32D-E8C924870A1B}"/>
              </a:ext>
            </a:extLst>
          </p:cNvPr>
          <p:cNvSpPr txBox="1"/>
          <p:nvPr/>
        </p:nvSpPr>
        <p:spPr>
          <a:xfrm>
            <a:off x="7121961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配信達成率（無償配信数含む）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7" name="Google Shape;100;p2">
            <a:extLst>
              <a:ext uri="{FF2B5EF4-FFF2-40B4-BE49-F238E27FC236}">
                <a16:creationId xmlns:a16="http://schemas.microsoft.com/office/drawing/2014/main" id="{2451EEA5-9613-C8F2-6FEE-BD3B82420BCE}"/>
              </a:ext>
            </a:extLst>
          </p:cNvPr>
          <p:cNvSpPr txBox="1"/>
          <p:nvPr/>
        </p:nvSpPr>
        <p:spPr>
          <a:xfrm>
            <a:off x="9095266" y="3159576"/>
            <a:ext cx="204179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4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{{ADDED_VALUE_WORTH}}</a:t>
            </a:r>
          </a:p>
        </p:txBody>
      </p:sp>
      <p:sp>
        <p:nvSpPr>
          <p:cNvPr id="178" name="Google Shape;100;p2">
            <a:extLst>
              <a:ext uri="{FF2B5EF4-FFF2-40B4-BE49-F238E27FC236}">
                <a16:creationId xmlns:a16="http://schemas.microsoft.com/office/drawing/2014/main" id="{904048A9-1819-8ED2-C1DE-DA313A6D2D0C}"/>
              </a:ext>
            </a:extLst>
          </p:cNvPr>
          <p:cNvSpPr txBox="1"/>
          <p:nvPr/>
        </p:nvSpPr>
        <p:spPr>
          <a:xfrm>
            <a:off x="9095264" y="2916675"/>
            <a:ext cx="231717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9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無償配信金額</a:t>
            </a:r>
            <a:endParaRPr lang="en-GB" sz="9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オンスクリーン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60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70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0.3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000" b="1" spc="4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sz="1000" b="1" spc="4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～</a:t>
            </a:r>
            <a:r>
              <a:rPr lang="en-US" altLang="ja-JP" sz="700" b="1" spc="40" dirty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35</a:t>
            </a: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％のベンチマーク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.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879697D-ACCA-9088-3070-C7B6D3ABE9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最も売れたタイトル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11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lang="en-GB" sz="11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2000" b="1" spc="4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lang="en-GB" sz="2000" b="1" spc="40" dirty="0">
              <a:solidFill>
                <a:schemeClr val="accent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ja-JP" altLang="en-US" sz="700" b="1" spc="4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lang="en-GB" sz="700" b="1" spc="40" dirty="0">
              <a:solidFill>
                <a:schemeClr val="accent1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558B4035-64B7-A84A-1FFF-22FDABDE14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業績好調な市場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8B28FBA-871D-47A1-9479-0FB007D13F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好成績を収めたタイトルと市場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クリック率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出演者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20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ビデオデッキ</a:t>
            </a:r>
            <a:endParaRPr kumimoji="0" lang="en-GB" sz="20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市場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クリックスルー率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動画完了率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エンゲージメント率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クリエイティブの概要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9BEE82-28D1-78B0-ED0C-F61829B050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最も優れたクリエイティブ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2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クリエイティブ名</a:t>
            </a:r>
            <a:endParaRPr kumimoji="0" lang="en-GB" sz="12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主要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</a:p>
          <a:p>
            <a:pPr lvl="0">
              <a:defRPr/>
            </a:pPr>
            <a:endParaRPr lang="en-GB" sz="700" b="1" spc="40" dirty="0">
              <a:solidFill>
                <a:srgbClr val="A6A6A6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  <a:p>
            <a:pPr lvl="0">
              <a:defRPr/>
            </a:pPr>
            <a:r>
              <a:rPr lang="ja-JP" altLang="en-US" sz="700" b="1" spc="4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副次</a:t>
            </a:r>
            <a:r>
              <a:rPr lang="en-GB" sz="700" b="1" spc="40" dirty="0">
                <a:solidFill>
                  <a:srgbClr val="A6A6A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KPI：XX%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defRPr/>
            </a:pPr>
            <a:r>
              <a:rPr lang="ja-JP" altLang="en-US" sz="8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フェーズ </a:t>
            </a:r>
            <a:r>
              <a:rPr lang="en-US" altLang="ja-JP" sz="8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1</a:t>
            </a:r>
            <a:endParaRPr kumimoji="0" lang="en-GB" sz="8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defRPr/>
            </a:pPr>
            <a:r>
              <a:rPr lang="ja-JP" altLang="en-US" sz="8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フェーズ </a:t>
            </a:r>
            <a:r>
              <a:rPr lang="en-US" altLang="ja-JP" sz="800" b="1" spc="4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2</a:t>
            </a:r>
            <a:endParaRPr kumimoji="0" lang="en-GB" sz="8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A51B14B0-6A12-EDE8-06D2-7C62603A5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注意力スコア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視聴可能率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注目率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アテンションタイム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攻撃時間 攻撃インプ</a:t>
            </a:r>
            <a:endParaRPr kumimoji="0" lang="en-GB" sz="10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表示可能なインプレッションの割合（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MRC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の大規模ユニット定義）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有効視聴されたインプレッションの割合（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0.2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秒以上）対ベンチマーク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50%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207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平均視聴時間 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vs. 1.34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インチベンチマーク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ts val="920"/>
              </a:lnSpc>
              <a:defRPr/>
            </a:pP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注意力インプ</a:t>
            </a:r>
            <a:r>
              <a:rPr lang="en-US" altLang="ja-JP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1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個あたりの平均注意時間 </a:t>
            </a:r>
            <a:r>
              <a:rPr lang="en-GB" sz="600" b="1" spc="30" dirty="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vs. 2.7</a:t>
            </a:r>
            <a:r>
              <a:rPr lang="ja-JP" altLang="en-US" sz="600" b="1" spc="30">
                <a:solidFill>
                  <a:srgbClr val="56565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インチベンチマーク</a:t>
            </a:r>
            <a:endParaRPr kumimoji="0" lang="en-GB" sz="600" b="1" i="0" u="none" strike="noStrike" kern="1200" cap="none" spc="30" normalizeH="0" baseline="0" noProof="0" dirty="0">
              <a:ln>
                <a:noFill/>
              </a:ln>
              <a:solidFill>
                <a:srgbClr val="56565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測定されたインプレッション総数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トップ</a:t>
            </a:r>
            <a:r>
              <a:rPr lang="en-US" altLang="ja-JP" sz="1400" b="1" spc="50" dirty="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3</a:t>
            </a:r>
            <a:r>
              <a:rPr lang="ja-JP" altLang="en-US" sz="14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サイト</a:t>
            </a:r>
            <a:endParaRPr kumimoji="0" lang="en-GB" sz="14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ECB4726-DC50-55C6-84E4-F98A2EEA58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ブランド調査結果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Attribution (</a:t>
            </a:r>
            <a:r>
              <a:rPr lang="ja-JP" altLang="en-US" sz="1400" b="1" spc="50">
                <a:solidFill>
                  <a:srgbClr val="FFFFFF"/>
                </a:solidFill>
                <a:latin typeface="Inter SemiBold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</a:t>
            </a:r>
            <a:r>
              <a:rPr lang="en-US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)</a:t>
            </a:r>
            <a:endParaRPr kumimoji="0" lang="en-GB" sz="1400" b="1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クリエイティブ診断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Consideration</a:t>
            </a:r>
            <a:r>
              <a:rPr lang="ja-JP" altLang="en-GB" sz="1400" b="1" spc="50">
                <a:solidFill>
                  <a:srgbClr val="FFFFFF"/>
                </a:solidFill>
                <a:latin typeface="Inter SemiBold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（</a:t>
            </a:r>
            <a:r>
              <a:rPr lang="ja-JP" altLang="en-US" sz="1400" b="1" spc="50">
                <a:solidFill>
                  <a:srgbClr val="FFFFFF"/>
                </a:solidFill>
                <a:latin typeface="Inter SemiBold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検討）</a:t>
            </a:r>
            <a:endParaRPr kumimoji="0" lang="en-GB" sz="1400" b="1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3506852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Brand Familiarity</a:t>
            </a:r>
            <a:r>
              <a:rPr lang="ja-JP" altLang="en-GB" sz="1400" b="1" spc="50">
                <a:solidFill>
                  <a:srgbClr val="FFFFFF"/>
                </a:solidFill>
                <a:latin typeface="Inter SemiBold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（</a:t>
            </a:r>
            <a:r>
              <a:rPr lang="ja-JP" altLang="en-US" sz="1400" b="1" spc="50">
                <a:solidFill>
                  <a:srgbClr val="FFFFFF"/>
                </a:solidFill>
                <a:latin typeface="Inter SemiBold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ブランド認知度）</a:t>
            </a:r>
            <a:endParaRPr kumimoji="0" lang="en-GB" sz="1400" b="1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altLang="ja-JP" sz="1400" b="1" spc="50" dirty="0">
                <a:solidFill>
                  <a:srgbClr val="FFFFFF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Open Sans" panose="020B0606030504020204" pitchFamily="34" charset="0"/>
                <a:sym typeface="Inter"/>
              </a:rPr>
              <a:t>Preference</a:t>
            </a:r>
            <a:r>
              <a:rPr lang="ja-JP" altLang="en-GB" sz="1400" b="1" spc="50">
                <a:solidFill>
                  <a:srgbClr val="FFFFFF"/>
                </a:solidFill>
                <a:latin typeface="Inter SemiBold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（</a:t>
            </a:r>
            <a:r>
              <a:rPr lang="ja-JP" altLang="en-US" sz="1400" b="1" spc="50">
                <a:solidFill>
                  <a:srgbClr val="FFFFFF"/>
                </a:solidFill>
                <a:latin typeface="Inter SemiBold" panose="02000503000000020004" pitchFamily="2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好意度）</a:t>
            </a:r>
            <a:endParaRPr kumimoji="0" lang="en-GB" sz="1400" b="1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7E47F6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700" b="1" spc="40">
                <a:solidFill>
                  <a:srgbClr val="F2F2F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広告想起への影響</a:t>
            </a: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F2F2F2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900" b="1" spc="40">
                <a:solidFill>
                  <a:srgbClr val="F4AD5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暴露された広告リコール業者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2496BB4-13DE-A3A1-2594-3AB4348741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ブランド調査結果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アテンション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想起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ブランド選択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600" b="1" spc="50">
                <a:solidFill>
                  <a:srgbClr val="FFFFFF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</a:t>
            </a:r>
            <a:endParaRPr kumimoji="0" lang="en-GB" sz="1600" b="1" i="0" u="none" strike="noStrike" kern="1200" cap="none" spc="5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B0EE024-76E6-822E-85E8-2044635502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ts val="3660"/>
              </a:lnSpc>
              <a:defRPr/>
            </a:pPr>
            <a:r>
              <a:rPr lang="ja-JP" altLang="en-US" sz="28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ブランド調査から得られた知見と提言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ja-JP" altLang="en-US" sz="800" b="1" spc="20">
                <a:solidFill>
                  <a:srgbClr val="1D1D1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低アテンション</a:t>
            </a:r>
            <a:endParaRPr kumimoji="0" lang="en-US" sz="800" b="1" i="0" u="none" strike="noStrike" kern="1200" cap="none" spc="2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lnSpc>
                <a:spcPct val="150000"/>
              </a:lnSpc>
              <a:defRPr/>
            </a:pPr>
            <a:r>
              <a:rPr lang="ja-JP" altLang="en-US" sz="800" b="1" spc="20">
                <a:solidFill>
                  <a:srgbClr val="1D1D1D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高アテンション</a:t>
            </a:r>
            <a:endParaRPr kumimoji="0" lang="en-US" sz="800" b="1" i="0" u="none" strike="noStrike" kern="1200" cap="none" spc="2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要約記載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要約記載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0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要約記載</a:t>
            </a:r>
            <a:endParaRPr kumimoji="0" lang="en-GB" sz="10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68E5366E-CDEE-0F85-B922-2508F6FE93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総評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サイト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ja-JP" altLang="en-US" sz="1100" b="1" spc="4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Inter"/>
              </a:rPr>
              <a:t>クリエイティブ</a:t>
            </a:r>
            <a:endParaRPr kumimoji="0" lang="en-GB" sz="1100" b="1" i="0" u="none" strike="noStrike" kern="1200" cap="none" spc="4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Inte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ja-JP" altLang="en-US" sz="3600" b="1" spc="10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学びと提言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20860AA-B1BD-CB59-AA36-45347F12C6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3099</TotalTime>
  <Words>3081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6" baseType="lpstr">
      <vt:lpstr>Poppins</vt:lpstr>
      <vt:lpstr>Inter</vt:lpstr>
      <vt:lpstr>Calibri</vt:lpstr>
      <vt:lpstr>Inter SemiBold</vt:lpstr>
      <vt:lpstr>Aptos</vt:lpstr>
      <vt:lpstr>Arial</vt:lpstr>
      <vt:lpstr>Inter Medium</vt:lpstr>
      <vt:lpstr>Inter Italic</vt:lpstr>
      <vt:lpstr>Open Sans</vt:lpstr>
      <vt:lpstr>Calibri Light</vt:lpstr>
      <vt:lpstr>Open Sans Semibold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62</cp:revision>
  <dcterms:created xsi:type="dcterms:W3CDTF">2025-02-28T16:34:04Z</dcterms:created>
  <dcterms:modified xsi:type="dcterms:W3CDTF">2026-09-08T10:46:21Z</dcterms:modified>
</cp:coreProperties>
</file>