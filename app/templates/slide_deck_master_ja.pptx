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Open Sans" panose="020B0606030504020204" pitchFamily="34" charset="0"/>
      <p:regular r:id="rId22"/>
    </p:embeddedFont>
    <p:embeddedFont>
      <p:font typeface="Poppins" pitchFamily="2" charset="77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71"/>
    <p:restoredTop sz="96846"/>
  </p:normalViewPr>
  <p:slideViewPr>
    <p:cSldViewPr snapToGrid="0">
      <p:cViewPr varScale="1">
        <p:scale>
          <a:sx n="127" d="100"/>
          <a:sy n="127" d="100"/>
        </p:scale>
        <p:origin x="9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PCA</a:t>
            </a:r>
            <a:r>
              <a:rPr lang="ja-JP" altLang="en-US" sz="1600" b="1" spc="6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レポート結果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キャンペーン分析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キャンペーン詳細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8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</a:t>
            </a:r>
            <a:r>
              <a:rPr lang="en-US" altLang="ja-JP" sz="800" b="1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481585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市場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ライブ日程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実際の支出額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主要人物</a:t>
            </a:r>
            <a:endParaRPr lang="en-GB" sz="11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オンスクリーン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sz="8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F2276292-D90E-DCD6-CB63-499EB26149BD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キャンペーンの目的</a:t>
            </a:r>
            <a:endParaRPr lang="en-GB" sz="11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8F13C-F60B-40B5-2002-C325D5400B21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8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概要 </a:t>
            </a:r>
            <a:r>
              <a:rPr lang="en-US" altLang="ja-JP" sz="8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8A2ACB-BAFB-D40B-6B3D-1A09139790E6}"/>
              </a:ext>
            </a:extLst>
          </p:cNvPr>
          <p:cNvSpPr txBox="1"/>
          <p:nvPr/>
        </p:nvSpPr>
        <p:spPr>
          <a:xfrm>
            <a:off x="912807" y="315833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800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観客 </a:t>
            </a:r>
            <a:r>
              <a:rPr lang="en-US" altLang="ja-JP" sz="800" spc="3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3FB5B5-677E-5D4A-EFA3-41135878C40D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617987-A426-F666-E130-F045239F9293}"/>
              </a:ext>
            </a:extLst>
          </p:cNvPr>
          <p:cNvSpPr txBox="1"/>
          <p:nvPr/>
        </p:nvSpPr>
        <p:spPr>
          <a:xfrm>
            <a:off x="1558616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CC95D2-919D-CB46-A0AF-0FCFF82C908E}"/>
              </a:ext>
            </a:extLst>
          </p:cNvPr>
          <p:cNvSpPr txBox="1"/>
          <p:nvPr/>
        </p:nvSpPr>
        <p:spPr>
          <a:xfrm>
            <a:off x="1558616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343CED-61B8-DE8C-0BFA-F6A13889F9F6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sp>
        <p:nvSpPr>
          <p:cNvPr id="124" name="Google Shape;100;p2">
            <a:extLst>
              <a:ext uri="{FF2B5EF4-FFF2-40B4-BE49-F238E27FC236}">
                <a16:creationId xmlns:a16="http://schemas.microsoft.com/office/drawing/2014/main" id="{437ED21B-256C-7751-B7B7-0569E2EA4EB1}"/>
              </a:ext>
            </a:extLst>
          </p:cNvPr>
          <p:cNvSpPr txBox="1"/>
          <p:nvPr/>
        </p:nvSpPr>
        <p:spPr>
          <a:xfrm>
            <a:off x="1202057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25" name="Google Shape;100;p2">
            <a:extLst>
              <a:ext uri="{FF2B5EF4-FFF2-40B4-BE49-F238E27FC236}">
                <a16:creationId xmlns:a16="http://schemas.microsoft.com/office/drawing/2014/main" id="{1AD03DB7-8BF6-C322-4CAD-B0CE9AFBCEF2}"/>
              </a:ext>
            </a:extLst>
          </p:cNvPr>
          <p:cNvSpPr txBox="1"/>
          <p:nvPr/>
        </p:nvSpPr>
        <p:spPr>
          <a:xfrm>
            <a:off x="1202055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配信されたインプレッション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8" name="Google Shape;100;p2">
            <a:extLst>
              <a:ext uri="{FF2B5EF4-FFF2-40B4-BE49-F238E27FC236}">
                <a16:creationId xmlns:a16="http://schemas.microsoft.com/office/drawing/2014/main" id="{0B815B41-7342-8A0C-6F35-DF4E9599F245}"/>
              </a:ext>
            </a:extLst>
          </p:cNvPr>
          <p:cNvSpPr txBox="1"/>
          <p:nvPr/>
        </p:nvSpPr>
        <p:spPr>
          <a:xfrm>
            <a:off x="3175359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69" name="Google Shape;100;p2">
            <a:extLst>
              <a:ext uri="{FF2B5EF4-FFF2-40B4-BE49-F238E27FC236}">
                <a16:creationId xmlns:a16="http://schemas.microsoft.com/office/drawing/2014/main" id="{EA12E97F-B89B-0A71-F1FB-13BC6B51F1D2}"/>
              </a:ext>
            </a:extLst>
          </p:cNvPr>
          <p:cNvSpPr txBox="1"/>
          <p:nvPr/>
        </p:nvSpPr>
        <p:spPr>
          <a:xfrm>
            <a:off x="3175357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IO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の総合的な印象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1" name="Google Shape;100;p2">
            <a:extLst>
              <a:ext uri="{FF2B5EF4-FFF2-40B4-BE49-F238E27FC236}">
                <a16:creationId xmlns:a16="http://schemas.microsoft.com/office/drawing/2014/main" id="{AEADC4FD-B7F4-78CE-B3D9-15E87C9423D2}"/>
              </a:ext>
            </a:extLst>
          </p:cNvPr>
          <p:cNvSpPr txBox="1"/>
          <p:nvPr/>
        </p:nvSpPr>
        <p:spPr>
          <a:xfrm>
            <a:off x="5148661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72" name="Google Shape;100;p2">
            <a:extLst>
              <a:ext uri="{FF2B5EF4-FFF2-40B4-BE49-F238E27FC236}">
                <a16:creationId xmlns:a16="http://schemas.microsoft.com/office/drawing/2014/main" id="{9E6E572A-2A41-F21A-A9FD-3C4E428F1E98}"/>
              </a:ext>
            </a:extLst>
          </p:cNvPr>
          <p:cNvSpPr txBox="1"/>
          <p:nvPr/>
        </p:nvSpPr>
        <p:spPr>
          <a:xfrm>
            <a:off x="5148659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納品された</a:t>
            </a: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AV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全般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4" name="Google Shape;100;p2">
            <a:extLst>
              <a:ext uri="{FF2B5EF4-FFF2-40B4-BE49-F238E27FC236}">
                <a16:creationId xmlns:a16="http://schemas.microsoft.com/office/drawing/2014/main" id="{FC0350E0-FFF5-F11A-CA51-CB2E02AF3B28}"/>
              </a:ext>
            </a:extLst>
          </p:cNvPr>
          <p:cNvSpPr txBox="1"/>
          <p:nvPr/>
        </p:nvSpPr>
        <p:spPr>
          <a:xfrm>
            <a:off x="7121963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75" name="Google Shape;100;p2">
            <a:extLst>
              <a:ext uri="{FF2B5EF4-FFF2-40B4-BE49-F238E27FC236}">
                <a16:creationId xmlns:a16="http://schemas.microsoft.com/office/drawing/2014/main" id="{3FB33B2F-E46C-2236-B32D-E8C924870A1B}"/>
              </a:ext>
            </a:extLst>
          </p:cNvPr>
          <p:cNvSpPr txBox="1"/>
          <p:nvPr/>
        </p:nvSpPr>
        <p:spPr>
          <a:xfrm>
            <a:off x="7121961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配送には</a:t>
            </a:r>
            <a:r>
              <a:rPr lang="en-GB" sz="9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AV</a:t>
            </a: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機器が含まれます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7" name="Google Shape;100;p2">
            <a:extLst>
              <a:ext uri="{FF2B5EF4-FFF2-40B4-BE49-F238E27FC236}">
                <a16:creationId xmlns:a16="http://schemas.microsoft.com/office/drawing/2014/main" id="{2451EEA5-9613-C8F2-6FEE-BD3B82420BCE}"/>
              </a:ext>
            </a:extLst>
          </p:cNvPr>
          <p:cNvSpPr txBox="1"/>
          <p:nvPr/>
        </p:nvSpPr>
        <p:spPr>
          <a:xfrm>
            <a:off x="9095266" y="3159576"/>
            <a:ext cx="204179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78" name="Google Shape;100;p2">
            <a:extLst>
              <a:ext uri="{FF2B5EF4-FFF2-40B4-BE49-F238E27FC236}">
                <a16:creationId xmlns:a16="http://schemas.microsoft.com/office/drawing/2014/main" id="{904048A9-1819-8ED2-C1DE-DA313A6D2D0C}"/>
              </a:ext>
            </a:extLst>
          </p:cNvPr>
          <p:cNvSpPr txBox="1"/>
          <p:nvPr/>
        </p:nvSpPr>
        <p:spPr>
          <a:xfrm>
            <a:off x="9095264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付加価値のあるもの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オンスクリーン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最も売れたタイトル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lang="en-GB" sz="11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業績好調な市場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好成績を収めたタイトルと市場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市場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クリエイティブの概要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最も優れたクリエイティブ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注意力スコア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視聴可能率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注目率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アテンションタイム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攻撃時間 攻撃インプ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表示可能なインプレッションの割合（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MRC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の大規模ユニット定義）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有効視聴されたインプレッションの割合（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0.2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秒以上）対ベンチマーク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50%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20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平均視聴時間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1.34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注意力インプ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個あたりの平均注意時間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2.7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測定されたインプレッション総数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トップ</a:t>
            </a:r>
            <a:r>
              <a:rPr lang="en-US" altLang="ja-JP" sz="1400" b="1" spc="5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</a:t>
            </a: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サイト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帰属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クリエイティブ診断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考慮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ブランド認知度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好み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注意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想起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ブランドの選択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3660"/>
              </a:lnSpc>
              <a:defRPr/>
            </a:pPr>
            <a:r>
              <a:rPr lang="ja-JP" altLang="en-US" sz="28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ブランド調査から得られた知見と提言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注意力の低下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さらなる注目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タイトル </a:t>
            </a:r>
            <a:r>
              <a:rPr lang="en-US" altLang="ja-JP" sz="10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全体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出版社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学びと提言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3077</TotalTime>
  <Words>3058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Open Sans</vt:lpstr>
      <vt:lpstr>Calibri</vt:lpstr>
      <vt:lpstr>Inter SemiBold</vt:lpstr>
      <vt:lpstr>Aptos</vt:lpstr>
      <vt:lpstr>Inter</vt:lpstr>
      <vt:lpstr>Inter Medium</vt:lpstr>
      <vt:lpstr>Poppins</vt:lpstr>
      <vt:lpstr>Arial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61</cp:revision>
  <dcterms:created xsi:type="dcterms:W3CDTF">2025-02-28T16:34:04Z</dcterms:created>
  <dcterms:modified xsi:type="dcterms:W3CDTF">2026-07-23T09:40:57Z</dcterms:modified>
</cp:coreProperties>
</file>